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F0A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389120"/>
            <a:ext cx="3657600" cy="3657600"/>
          </a:xfrm>
          <a:prstGeom prst="ellipse">
            <a:avLst/>
          </a:prstGeom>
          <a:solidFill>
            <a:srgbClr val="F2C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B5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0" y="5029200"/>
            <a:ext cx="2286000" cy="2286000"/>
          </a:xfrm>
          <a:prstGeom prst="ellipse">
            <a:avLst/>
          </a:prstGeom>
          <a:solidFill>
            <a:srgbClr val="C8E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9728" cy="32004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3D405B"/>
                </a:solidFill>
                <a:latin typeface="Segoe UI"/>
              </a:defRPr>
            </a:pPr>
            <a:r>
              <a:t>TORASAN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517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07A5F"/>
                </a:solidFill>
                <a:latin typeface="游ゴシック"/>
              </a:defRPr>
            </a:pPr>
            <a:r>
              <a:t>スキル &amp; ナレッジ フレームワーク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657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D405B"/>
                </a:solidFill>
                <a:latin typeface="游ゴシック"/>
              </a:defRPr>
            </a:pPr>
            <a:r>
              <a:t>AI駆動の機能安全開発を支える知識管理システム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4572000"/>
            <a:ext cx="1645920" cy="457200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游ゴシック"/>
              </a:defRPr>
            </a:pPr>
            <a:r>
              <a:t>v4.0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617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1B29A"/>
                </a:solidFill>
                <a:latin typeface="Segoe UI"/>
              </a:defRPr>
            </a:pPr>
            <a:r>
              <a:t>2026.03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1B29A"/>
                </a:solidFill>
                <a:latin typeface="Segoe UI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5303520"/>
            <a:ext cx="2286000" cy="2286000"/>
          </a:xfrm>
          <a:prstGeom prst="ellipse">
            <a:avLst/>
          </a:prstGeom>
          <a:solidFill>
            <a:srgbClr val="F0A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0" y="5760720"/>
            <a:ext cx="1645920" cy="1645920"/>
          </a:xfrm>
          <a:prstGeom prst="ellipse">
            <a:avLst/>
          </a:prstGeom>
          <a:solidFill>
            <a:srgbClr val="F2C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-457200"/>
            <a:ext cx="1371600" cy="1371600"/>
          </a:xfrm>
          <a:prstGeom prst="ellipse">
            <a:avLst/>
          </a:prstGeom>
          <a:solidFill>
            <a:srgbClr val="B5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D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游ゴシック"/>
              </a:defRPr>
            </a:pPr>
            <a:r>
              <a:t>TORASANとは？</a:t>
            </a:r>
          </a:p>
        </p:txBody>
      </p:sp>
      <p:sp>
        <p:nvSpPr>
          <p:cNvPr id="7" name="Oval 6"/>
          <p:cNvSpPr/>
          <p:nvPr/>
        </p:nvSpPr>
        <p:spPr>
          <a:xfrm>
            <a:off x="4754880" y="2011680"/>
            <a:ext cx="2560320" cy="2560320"/>
          </a:xfrm>
          <a:prstGeom prst="ellipse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游ゴシック"/>
              </a:defRPr>
            </a:pPr>
            <a:r>
              <a:t>TORASAN</a:t>
            </a:r>
            <a:br/>
            <a:r>
              <a:t>Hub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2743200" cy="1371600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41 スキル</a:t>
            </a:r>
          </a:p>
          <a:p>
            <a:pPr algn="ctr">
              <a:defRPr sz="1300">
                <a:solidFill>
                  <a:srgbClr val="FFFFDD"/>
                </a:solidFill>
              </a:defRPr>
            </a:pPr>
            <a:r>
              <a:t>実行する知恵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1828800"/>
            <a:ext cx="2743200" cy="1371600"/>
          </a:xfrm>
          <a:prstGeom prst="roundRect">
            <a:avLst/>
          </a:prstGeom>
          <a:solidFill>
            <a:srgbClr val="5B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16 ナレッジ</a:t>
            </a:r>
          </a:p>
          <a:p>
            <a:pPr algn="ctr">
              <a:defRPr sz="1300">
                <a:solidFill>
                  <a:srgbClr val="FFFFDD"/>
                </a:solidFill>
              </a:defRPr>
            </a:pPr>
            <a:r>
              <a:t>参照する知識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389120"/>
            <a:ext cx="2743200" cy="1371600"/>
          </a:xfrm>
          <a:prstGeom prst="roundRect">
            <a:avLst/>
          </a:prstGeom>
          <a:solidFill>
            <a:srgbClr val="F2C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管理 GUI</a:t>
            </a:r>
          </a:p>
          <a:p>
            <a:pPr algn="ctr">
              <a:defRPr sz="1300">
                <a:solidFill>
                  <a:srgbClr val="FFFFDD"/>
                </a:solidFill>
              </a:defRPr>
            </a:pPr>
            <a:r>
              <a:t>localhost:3000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4389120"/>
            <a:ext cx="2743200" cy="1371600"/>
          </a:xfrm>
          <a:prstGeom prst="roundRect">
            <a:avLst/>
          </a:prstGeom>
          <a:solidFill>
            <a:srgbClr val="C05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配布機構</a:t>
            </a:r>
          </a:p>
          <a:p>
            <a:pPr algn="ctr">
              <a:defRPr sz="1300">
                <a:solidFill>
                  <a:srgbClr val="FFFFDD"/>
                </a:solidFill>
              </a:defRPr>
            </a:pPr>
            <a:r>
              <a:t>install.sh &amp; sync</a:t>
            </a:r>
          </a:p>
        </p:txBody>
      </p:sp>
      <p:sp>
        <p:nvSpPr>
          <p:cNvPr id="12" name="Right Arrow 11"/>
          <p:cNvSpPr/>
          <p:nvPr/>
        </p:nvSpPr>
        <p:spPr>
          <a:xfrm rot="10800000">
            <a:off x="3840480" y="2834640"/>
            <a:ext cx="914400" cy="365760"/>
          </a:xfrm>
          <a:prstGeom prst="rightArrow">
            <a:avLst/>
          </a:prstGeom>
          <a:solidFill>
            <a:srgbClr val="F0A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7406640" y="2834640"/>
            <a:ext cx="914400" cy="365760"/>
          </a:xfrm>
          <a:prstGeom prst="rightArrow">
            <a:avLst/>
          </a:prstGeom>
          <a:solidFill>
            <a:srgbClr val="F0A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 rot="10800000">
            <a:off x="3840480" y="4114800"/>
            <a:ext cx="914400" cy="365760"/>
          </a:xfrm>
          <a:prstGeom prst="rightArrow">
            <a:avLst/>
          </a:prstGeom>
          <a:solidFill>
            <a:srgbClr val="F0A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7406640" y="4114800"/>
            <a:ext cx="914400" cy="365760"/>
          </a:xfrm>
          <a:prstGeom prst="rightArrow">
            <a:avLst/>
          </a:prstGeom>
          <a:solidFill>
            <a:srgbClr val="F0A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D405B"/>
                </a:solidFill>
                <a:latin typeface="游ゴシック"/>
              </a:defRPr>
            </a:pPr>
            <a:r>
              <a:t>全スキルの開発・メンテナンスの拠点。汎用スキルはinstall.shで全PJに配布、ドメインスキルはsyncで個別配布。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1B29A"/>
                </a:solidFill>
                <a:latin typeface="Segoe UI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D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游ゴシック"/>
              </a:defRPr>
            </a:pPr>
            <a:r>
              <a:t>スキル vs ナレッジ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731520"/>
          </a:xfrm>
          <a:prstGeom prst="round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游ゴシック"/>
              </a:defRPr>
            </a:pPr>
            <a:r>
              <a:t>スキル = 実行する知恵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400" b="0">
                <a:solidFill>
                  <a:srgbClr val="3D405B"/>
                </a:solidFill>
                <a:latin typeface="游ゴシック"/>
              </a:defRPr>
            </a:pPr>
            <a:r>
              <a:t>  コマンドとして呼び出す（例: /session, /driver-gen）</a:t>
            </a:r>
          </a:p>
          <a:p>
            <a:pPr>
              <a:spcBef>
                <a:spcPts val="600"/>
              </a:spcBef>
              <a:defRPr sz="1400">
                <a:solidFill>
                  <a:srgbClr val="3D405B"/>
                </a:solidFill>
                <a:latin typeface="游ゴシック"/>
              </a:defRPr>
            </a:pPr>
            <a:r>
              <a:t>  ステップバイステップの手順を定義</a:t>
            </a:r>
          </a:p>
          <a:p>
            <a:pPr>
              <a:spcBef>
                <a:spcPts val="600"/>
              </a:spcBef>
              <a:defRPr sz="1400">
                <a:solidFill>
                  <a:srgbClr val="3D405B"/>
                </a:solidFill>
                <a:latin typeface="游ゴシック"/>
              </a:defRPr>
            </a:pPr>
            <a:r>
              <a:t>  入力 → 処理 → 出力 の実行フロー</a:t>
            </a:r>
          </a:p>
          <a:p>
            <a:pPr>
              <a:spcBef>
                <a:spcPts val="600"/>
              </a:spcBef>
              <a:defRPr sz="1400">
                <a:solidFill>
                  <a:srgbClr val="3D405B"/>
                </a:solidFill>
                <a:latin typeface="游ゴシック"/>
              </a:defRPr>
            </a:pPr>
            <a:r>
              <a:t>  他スキルと連携してワークフローを構成</a:t>
            </a:r>
          </a:p>
          <a:p>
            <a:pPr>
              <a:spcBef>
                <a:spcPts val="600"/>
              </a:spcBef>
              <a:defRPr sz="1400">
                <a:solidFill>
                  <a:srgbClr val="3D405B"/>
                </a:solidFill>
                <a:latin typeface="游ゴシック"/>
              </a:defRPr>
            </a:pPr>
            <a:r>
              <a:t>  成熟度モデル（L1→L5）で品質を管理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731520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游ゴシック"/>
              </a:defRPr>
            </a:pPr>
            <a:r>
              <a:t>ナレッジ = 参照する知識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400" b="0">
                <a:solidFill>
                  <a:srgbClr val="3D405B"/>
                </a:solidFill>
                <a:latin typeface="游ゴシック"/>
              </a:defRPr>
            </a:pPr>
            <a:r>
              <a:t>  スキル実行時に参照されるリファレンス</a:t>
            </a:r>
          </a:p>
          <a:p>
            <a:pPr>
              <a:spcBef>
                <a:spcPts val="600"/>
              </a:spcBef>
              <a:defRPr sz="1400">
                <a:solidFill>
                  <a:srgbClr val="3D405B"/>
                </a:solidFill>
                <a:latin typeface="游ゴシック"/>
              </a:defRPr>
            </a:pPr>
            <a:r>
              <a:t>  規格要件・技術仕様・ベストプラクティス</a:t>
            </a:r>
          </a:p>
          <a:p>
            <a:pPr>
              <a:spcBef>
                <a:spcPts val="600"/>
              </a:spcBef>
              <a:defRPr sz="1400">
                <a:solidFill>
                  <a:srgbClr val="3D405B"/>
                </a:solidFill>
                <a:latin typeface="游ゴシック"/>
              </a:defRPr>
            </a:pPr>
            <a:r>
              <a:t>  .claude/knowledge/ に Markdown で格納</a:t>
            </a:r>
          </a:p>
          <a:p>
            <a:pPr>
              <a:spcBef>
                <a:spcPts val="600"/>
              </a:spcBef>
              <a:defRPr sz="1400">
                <a:solidFill>
                  <a:srgbClr val="3D405B"/>
                </a:solidFill>
                <a:latin typeface="游ゴシック"/>
              </a:defRPr>
            </a:pPr>
            <a:r>
              <a:t>  スキルが自動的に必要なナレッジを読み込む</a:t>
            </a:r>
          </a:p>
          <a:p>
            <a:pPr>
              <a:spcBef>
                <a:spcPts val="600"/>
              </a:spcBef>
              <a:defRPr sz="1400">
                <a:solidFill>
                  <a:srgbClr val="3D405B"/>
                </a:solidFill>
                <a:latin typeface="游ゴシック"/>
              </a:defRPr>
            </a:pPr>
            <a:r>
              <a:t>  ドメイン知識を構造化して再利用可能に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1371600"/>
            <a:ext cx="45720" cy="4114800"/>
          </a:xfrm>
          <a:prstGeom prst="rect">
            <a:avLst/>
          </a:prstGeom>
          <a:solidFill>
            <a:srgbClr val="F2C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86000" y="5303520"/>
            <a:ext cx="2286000" cy="640080"/>
          </a:xfrm>
          <a:prstGeom prst="round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游ゴシック"/>
              </a:defRPr>
            </a:pPr>
            <a:r>
              <a:t>/driver-gen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663440" y="5394960"/>
            <a:ext cx="1371600" cy="365760"/>
          </a:xfrm>
          <a:prstGeom prst="rightArrow">
            <a:avLst/>
          </a:prstGeom>
          <a:solidFill>
            <a:srgbClr val="F2C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6480" y="5303520"/>
            <a:ext cx="2743200" cy="640080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游ゴシック"/>
              </a:defRPr>
            </a:pPr>
            <a:r>
              <a:t>misra_c_2012.md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5943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2CC8F"/>
                </a:solidFill>
                <a:latin typeface="游ゴシック"/>
              </a:defRPr>
            </a:pPr>
            <a:r>
              <a:t>参照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1B29A"/>
                </a:solidFill>
                <a:latin typeface="Segoe UI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D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游ゴシック"/>
              </a:defRPr>
            </a:pPr>
            <a:r>
              <a:t>スキルの全体像 — 41本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743200" cy="548640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游ゴシック"/>
              </a:defRPr>
            </a:pPr>
            <a:r>
              <a:t>汎用スキル 15本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234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1B29A"/>
                </a:solidFill>
                <a:latin typeface="游ゴシック"/>
              </a:defRPr>
            </a:pPr>
            <a:r>
              <a:t>全プロジェクト共通 — install.sh で配布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2103120" cy="411480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游ゴシック"/>
              </a:defRPr>
            </a:pPr>
            <a:r>
              <a:t>session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920240"/>
            <a:ext cx="2103120" cy="411480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游ゴシック"/>
              </a:defRPr>
            </a:pPr>
            <a:r>
              <a:t>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920240"/>
            <a:ext cx="2103120" cy="411480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游ゴシック"/>
              </a:defRPr>
            </a:pPr>
            <a:r>
              <a:t>health-check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920240"/>
            <a:ext cx="2103120" cy="411480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游ゴシック"/>
              </a:defRPr>
            </a:pPr>
            <a:r>
              <a:t>skill-manage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1920240"/>
            <a:ext cx="2103120" cy="411480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游ゴシック"/>
              </a:defRPr>
            </a:pPr>
            <a:r>
              <a:t>skill-evolve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23160"/>
            <a:ext cx="2103120" cy="411480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游ゴシック"/>
              </a:defRPr>
            </a:pPr>
            <a:r>
              <a:t>repo-manage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2423160"/>
            <a:ext cx="2103120" cy="411480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游ゴシック"/>
              </a:defRPr>
            </a:pPr>
            <a:r>
              <a:t>backup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423160"/>
            <a:ext cx="2103120" cy="411480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游ゴシック"/>
              </a:defRPr>
            </a:pPr>
            <a:r>
              <a:t>commit-change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423160"/>
            <a:ext cx="2103120" cy="411480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游ゴシック"/>
              </a:defRPr>
            </a:pPr>
            <a:r>
              <a:t>config-audit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2423160"/>
            <a:ext cx="2103120" cy="411480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游ゴシック"/>
              </a:defRPr>
            </a:pPr>
            <a:r>
              <a:t>worktree-cleanup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926080"/>
            <a:ext cx="2103120" cy="411480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游ゴシック"/>
              </a:defRPr>
            </a:pPr>
            <a:r>
              <a:t>update-record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2926080"/>
            <a:ext cx="2103120" cy="411480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游ゴシック"/>
              </a:defRPr>
            </a:pPr>
            <a:r>
              <a:t>env-check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2926080"/>
            <a:ext cx="2103120" cy="411480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游ゴシック"/>
              </a:defRPr>
            </a:pPr>
            <a:r>
              <a:t>platform-info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2926080"/>
            <a:ext cx="2103120" cy="411480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游ゴシック"/>
              </a:defRPr>
            </a:pPr>
            <a:r>
              <a:t>claude-master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2926080"/>
            <a:ext cx="2103120" cy="411480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游ゴシック"/>
              </a:defRPr>
            </a:pPr>
            <a:r>
              <a:t>session-handoff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57600"/>
            <a:ext cx="3200400" cy="548640"/>
          </a:xfrm>
          <a:prstGeom prst="round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游ゴシック"/>
              </a:defRPr>
            </a:pPr>
            <a:r>
              <a:t>ドメインスキル 26本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703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07A5F"/>
                </a:solidFill>
                <a:latin typeface="游ゴシック"/>
              </a:defRPr>
            </a:pPr>
            <a:r>
              <a:t>機能安全専門 — /repo-manage sync で個別配布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89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7A5F"/>
                </a:solidFill>
                <a:latin typeface="游ゴシック"/>
              </a:defRPr>
            </a:pPr>
            <a:r>
              <a:t>プロセス管理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709160"/>
            <a:ext cx="1188720" cy="320040"/>
          </a:xfrm>
          <a:prstGeom prst="round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execute-phase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37360" y="4709160"/>
            <a:ext cx="1188720" cy="320040"/>
          </a:xfrm>
          <a:prstGeom prst="round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assess-spice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17520" y="4709160"/>
            <a:ext cx="1188720" cy="320040"/>
          </a:xfrm>
          <a:prstGeom prst="round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manage-tbd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074920"/>
            <a:ext cx="1188720" cy="320040"/>
          </a:xfrm>
          <a:prstGeom prst="round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validate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737360" y="5074920"/>
            <a:ext cx="1188720" cy="320040"/>
          </a:xfrm>
          <a:prstGeom prst="round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problem-resolve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389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5A3F"/>
                </a:solidFill>
                <a:latin typeface="游ゴシック"/>
              </a:defRPr>
            </a:pPr>
            <a:r>
              <a:t>安全要件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4709160"/>
            <a:ext cx="1188720" cy="320040"/>
          </a:xfrm>
          <a:prstGeom prst="roundRect">
            <a:avLst/>
          </a:prstGeom>
          <a:solidFill>
            <a:srgbClr val="C05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select-standard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0" y="4709160"/>
            <a:ext cx="1188720" cy="320040"/>
          </a:xfrm>
          <a:prstGeom prst="roundRect">
            <a:avLst/>
          </a:prstGeom>
          <a:solidFill>
            <a:srgbClr val="C05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safety-concept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49440" y="4709160"/>
            <a:ext cx="1188720" cy="320040"/>
          </a:xfrm>
          <a:prstGeom prst="roundRect">
            <a:avLst/>
          </a:prstGeom>
          <a:solidFill>
            <a:srgbClr val="C05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srs-generate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5074920"/>
            <a:ext cx="1188720" cy="320040"/>
          </a:xfrm>
          <a:prstGeom prst="roundRect">
            <a:avLst/>
          </a:prstGeom>
          <a:solidFill>
            <a:srgbClr val="C05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fmea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0" y="5074920"/>
            <a:ext cx="1188720" cy="320040"/>
          </a:xfrm>
          <a:prstGeom prst="roundRect">
            <a:avLst/>
          </a:prstGeom>
          <a:solidFill>
            <a:srgbClr val="C05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switch-standard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389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B7553"/>
                </a:solidFill>
                <a:latin typeface="游ゴシック"/>
              </a:defRPr>
            </a:pPr>
            <a:r>
              <a:t>設計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21040" y="4709160"/>
            <a:ext cx="1188720" cy="320040"/>
          </a:xfrm>
          <a:prstGeom prst="roundRect">
            <a:avLst/>
          </a:prstGeom>
          <a:solidFill>
            <a:srgbClr val="5B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system-design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200" y="4709160"/>
            <a:ext cx="1188720" cy="320040"/>
          </a:xfrm>
          <a:prstGeom prst="roundRect">
            <a:avLst/>
          </a:prstGeom>
          <a:solidFill>
            <a:srgbClr val="5B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sw-design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881360" y="4709160"/>
            <a:ext cx="1188720" cy="320040"/>
          </a:xfrm>
          <a:prstGeom prst="roundRect">
            <a:avLst/>
          </a:prstGeom>
          <a:solidFill>
            <a:srgbClr val="5B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motor-control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21040" y="5074920"/>
            <a:ext cx="1188720" cy="320040"/>
          </a:xfrm>
          <a:prstGeom prst="roundRect">
            <a:avLst/>
          </a:prstGeom>
          <a:solidFill>
            <a:srgbClr val="5B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mcu-config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01200" y="5074920"/>
            <a:ext cx="1188720" cy="320040"/>
          </a:xfrm>
          <a:prstGeom prst="roundRect">
            <a:avLst/>
          </a:prstGeom>
          <a:solidFill>
            <a:srgbClr val="5B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hw-review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623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855B"/>
                </a:solidFill>
                <a:latin typeface="游ゴシック"/>
              </a:defRPr>
            </a:pPr>
            <a:r>
              <a:t>テスト/検証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943600"/>
            <a:ext cx="1188720" cy="320040"/>
          </a:xfrm>
          <a:prstGeom prst="roundRect">
            <a:avLst/>
          </a:prstGeom>
          <a:solidFill>
            <a:srgbClr val="6B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test-design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737360" y="5943600"/>
            <a:ext cx="1188720" cy="320040"/>
          </a:xfrm>
          <a:prstGeom prst="roundRect">
            <a:avLst/>
          </a:prstGeom>
          <a:solidFill>
            <a:srgbClr val="6B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systest-design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17520" y="5943600"/>
            <a:ext cx="1188720" cy="320040"/>
          </a:xfrm>
          <a:prstGeom prst="roundRect">
            <a:avLst/>
          </a:prstGeom>
          <a:solidFill>
            <a:srgbClr val="6B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test-coverage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6309360"/>
            <a:ext cx="1188720" cy="320040"/>
          </a:xfrm>
          <a:prstGeom prst="roundRect">
            <a:avLst/>
          </a:prstGeom>
          <a:solidFill>
            <a:srgbClr val="6B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safety-verify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5623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6A4F"/>
                </a:solidFill>
                <a:latin typeface="游ゴシック"/>
              </a:defRPr>
            </a:pPr>
            <a:r>
              <a:t>コード/分析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89120" y="5943600"/>
            <a:ext cx="1188720" cy="320040"/>
          </a:xfrm>
          <a:prstGeom prst="roundRect">
            <a:avLst/>
          </a:prstGeom>
          <a:solidFill>
            <a:srgbClr val="8B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driver-gen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0" y="5943600"/>
            <a:ext cx="1188720" cy="320040"/>
          </a:xfrm>
          <a:prstGeom prst="roundRect">
            <a:avLst/>
          </a:prstGeom>
          <a:solidFill>
            <a:srgbClr val="8B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static-analysis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949440" y="5943600"/>
            <a:ext cx="1188720" cy="320040"/>
          </a:xfrm>
          <a:prstGeom prst="roundRect">
            <a:avLst/>
          </a:prstGeom>
          <a:solidFill>
            <a:srgbClr val="8B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safety-diag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5623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B8A6F"/>
                </a:solidFill>
                <a:latin typeface="游ゴシック"/>
              </a:defRPr>
            </a:pPr>
            <a:r>
              <a:t>文書/他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21040" y="5943600"/>
            <a:ext cx="1188720" cy="320040"/>
          </a:xfrm>
          <a:prstGeom prst="roundRect">
            <a:avLst/>
          </a:prstGeom>
          <a:solidFill>
            <a:srgbClr val="9B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trace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601200" y="5943600"/>
            <a:ext cx="1188720" cy="320040"/>
          </a:xfrm>
          <a:prstGeom prst="roundRect">
            <a:avLst/>
          </a:prstGeom>
          <a:solidFill>
            <a:srgbClr val="9B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memory-map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881360" y="5943600"/>
            <a:ext cx="1188720" cy="320040"/>
          </a:xfrm>
          <a:prstGeom prst="roundRect">
            <a:avLst/>
          </a:prstGeom>
          <a:solidFill>
            <a:srgbClr val="9B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generate-docs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21040" y="6309360"/>
            <a:ext cx="1188720" cy="320040"/>
          </a:xfrm>
          <a:prstGeom prst="roundRect">
            <a:avLst/>
          </a:prstGeom>
          <a:solidFill>
            <a:srgbClr val="9B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ingest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1B29A"/>
                </a:solidFill>
                <a:latin typeface="Segoe UI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D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游ゴシック"/>
              </a:defRPr>
            </a:pPr>
            <a:r>
              <a:t>汎用スキル 15本 — 全PJ共通の運用基盤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200400" cy="457200"/>
          </a:xfrm>
          <a:prstGeom prst="round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游ゴシック"/>
              </a:defRPr>
            </a:pPr>
            <a:r>
              <a:t>セッション管理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011680" cy="384048"/>
          </a:xfrm>
          <a:prstGeom prst="round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游ゴシック"/>
              </a:defRPr>
            </a:pPr>
            <a:r>
              <a:t>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057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D405B"/>
                </a:solidFill>
                <a:latin typeface="游ゴシック"/>
              </a:defRPr>
            </a:pPr>
            <a:r>
              <a:t>セッション開始/終了/反省会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2011680" cy="384048"/>
          </a:xfrm>
          <a:prstGeom prst="round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游ゴシック"/>
              </a:defRPr>
            </a:pPr>
            <a:r>
              <a:t>session-handoff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D405B"/>
                </a:solidFill>
                <a:latin typeface="游ゴシック"/>
              </a:defRPr>
            </a:pPr>
            <a:r>
              <a:t>引継ぎ状態の保存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2011680" cy="384048"/>
          </a:xfrm>
          <a:prstGeom prst="round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游ゴシック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D405B"/>
                </a:solidFill>
                <a:latin typeface="游ゴシック"/>
              </a:defRPr>
            </a:pPr>
            <a:r>
              <a:t>プロジェクト概要表示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48640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3200400" cy="457200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游ゴシック"/>
              </a:defRPr>
            </a:pPr>
            <a:r>
              <a:t>品質保証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011680"/>
            <a:ext cx="2011680" cy="384048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游ゴシック"/>
              </a:defRPr>
            </a:pPr>
            <a:r>
              <a:t>health-check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057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D405B"/>
                </a:solidFill>
                <a:latin typeface="游ゴシック"/>
              </a:defRPr>
            </a:pPr>
            <a:r>
              <a:t>プロジェクト健全性監査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514600"/>
            <a:ext cx="2011680" cy="384048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游ゴシック"/>
              </a:defRPr>
            </a:pPr>
            <a:r>
              <a:t>skill-manage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D405B"/>
                </a:solidFill>
                <a:latin typeface="游ゴシック"/>
              </a:defRPr>
            </a:pPr>
            <a:r>
              <a:t>スキル品質監査/一覧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017520"/>
            <a:ext cx="2011680" cy="384048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游ゴシック"/>
              </a:defRPr>
            </a:pPr>
            <a:r>
              <a:t>skill-evolve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D405B"/>
                </a:solidFill>
                <a:latin typeface="游ゴシック"/>
              </a:defRPr>
            </a:pPr>
            <a:r>
              <a:t>PDCA改善サイクル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40480"/>
            <a:ext cx="5486400" cy="2834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B7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3977640"/>
            <a:ext cx="3200400" cy="457200"/>
          </a:xfrm>
          <a:prstGeom prst="roundRect">
            <a:avLst/>
          </a:prstGeom>
          <a:solidFill>
            <a:srgbClr val="5B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游ゴシック"/>
              </a:defRPr>
            </a:pPr>
            <a:r>
              <a:t>プロジェクト運用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572000"/>
            <a:ext cx="2011680" cy="384048"/>
          </a:xfrm>
          <a:prstGeom prst="roundRect">
            <a:avLst/>
          </a:prstGeom>
          <a:solidFill>
            <a:srgbClr val="5B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游ゴシック"/>
              </a:defRPr>
            </a:pPr>
            <a:r>
              <a:t>repo-manage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D405B"/>
                </a:solidFill>
                <a:latin typeface="游ゴシック"/>
              </a:defRPr>
            </a:pPr>
            <a:r>
              <a:t>PJレジストリ/スキル同期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074920"/>
            <a:ext cx="2011680" cy="384048"/>
          </a:xfrm>
          <a:prstGeom prst="roundRect">
            <a:avLst/>
          </a:prstGeom>
          <a:solidFill>
            <a:srgbClr val="5B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游ゴシック"/>
              </a:defRPr>
            </a:pPr>
            <a:r>
              <a:t>backup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D405B"/>
                </a:solidFill>
                <a:latin typeface="游ゴシック"/>
              </a:defRPr>
            </a:pPr>
            <a:r>
              <a:t>Gitタグによるバックアップ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577840"/>
            <a:ext cx="2011680" cy="384048"/>
          </a:xfrm>
          <a:prstGeom prst="roundRect">
            <a:avLst/>
          </a:prstGeom>
          <a:solidFill>
            <a:srgbClr val="5B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游ゴシック"/>
              </a:defRPr>
            </a:pPr>
            <a:r>
              <a:t>commit-change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5623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D405B"/>
                </a:solidFill>
                <a:latin typeface="游ゴシック"/>
              </a:defRPr>
            </a:pPr>
            <a:r>
              <a:t>コミットワークフロー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6080760"/>
            <a:ext cx="2011680" cy="384048"/>
          </a:xfrm>
          <a:prstGeom prst="roundRect">
            <a:avLst/>
          </a:prstGeom>
          <a:solidFill>
            <a:srgbClr val="5B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游ゴシック"/>
              </a:defRPr>
            </a:pPr>
            <a:r>
              <a:t>update-record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6126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D405B"/>
                </a:solidFill>
                <a:latin typeface="游ゴシック"/>
              </a:defRPr>
            </a:pPr>
            <a:r>
              <a:t>プロセス記録更新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840480"/>
            <a:ext cx="5486400" cy="3337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2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55080" y="3977640"/>
            <a:ext cx="3200400" cy="457200"/>
          </a:xfrm>
          <a:prstGeom prst="roundRect">
            <a:avLst/>
          </a:prstGeom>
          <a:solidFill>
            <a:srgbClr val="F2C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游ゴシック"/>
              </a:defRPr>
            </a:pPr>
            <a:r>
              <a:t>環境・基盤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4572000"/>
            <a:ext cx="2011680" cy="384048"/>
          </a:xfrm>
          <a:prstGeom prst="roundRect">
            <a:avLst/>
          </a:prstGeom>
          <a:solidFill>
            <a:srgbClr val="F2C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游ゴシック"/>
              </a:defRPr>
            </a:pPr>
            <a:r>
              <a:t>env-check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D405B"/>
                </a:solidFill>
                <a:latin typeface="游ゴシック"/>
              </a:defRPr>
            </a:pPr>
            <a:r>
              <a:t>開発ツール検証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5074920"/>
            <a:ext cx="2011680" cy="384048"/>
          </a:xfrm>
          <a:prstGeom prst="roundRect">
            <a:avLst/>
          </a:prstGeom>
          <a:solidFill>
            <a:srgbClr val="F2C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游ゴシック"/>
              </a:defRPr>
            </a:pPr>
            <a:r>
              <a:t>platform-info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D405B"/>
                </a:solidFill>
                <a:latin typeface="游ゴシック"/>
              </a:defRPr>
            </a:pPr>
            <a:r>
              <a:t>OS/シェル情報表示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5577840"/>
            <a:ext cx="2011680" cy="384048"/>
          </a:xfrm>
          <a:prstGeom prst="roundRect">
            <a:avLst/>
          </a:prstGeom>
          <a:solidFill>
            <a:srgbClr val="F2C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游ゴシック"/>
              </a:defRPr>
            </a:pPr>
            <a:r>
              <a:t>config-audit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5623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D405B"/>
                </a:solidFill>
                <a:latin typeface="游ゴシック"/>
              </a:defRPr>
            </a:pPr>
            <a:r>
              <a:t>設定ファイル監査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6080760"/>
            <a:ext cx="2011680" cy="384048"/>
          </a:xfrm>
          <a:prstGeom prst="roundRect">
            <a:avLst/>
          </a:prstGeom>
          <a:solidFill>
            <a:srgbClr val="F2C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游ゴシック"/>
              </a:defRPr>
            </a:pPr>
            <a:r>
              <a:t>worktree-cleanup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6126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D405B"/>
                </a:solidFill>
                <a:latin typeface="游ゴシック"/>
              </a:defRPr>
            </a:pPr>
            <a:r>
              <a:t>WT整理/ブランチ削除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92240" y="6583680"/>
            <a:ext cx="2011680" cy="384048"/>
          </a:xfrm>
          <a:prstGeom prst="roundRect">
            <a:avLst/>
          </a:prstGeom>
          <a:solidFill>
            <a:srgbClr val="F2C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游ゴシック"/>
              </a:defRPr>
            </a:pPr>
            <a:r>
              <a:t>claude-master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629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D405B"/>
                </a:solidFill>
                <a:latin typeface="游ゴシック"/>
              </a:defRPr>
            </a:pPr>
            <a:r>
              <a:t>技術巡回/最新化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1B29A"/>
                </a:solidFill>
                <a:latin typeface="Segoe UI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D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游ゴシック"/>
              </a:defRPr>
            </a:pPr>
            <a:r>
              <a:t>ドメインスキル 26本 — V-modelに沿った機能安全開発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2286000" cy="457200"/>
          </a:xfrm>
          <a:prstGeom prst="round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游ゴシック"/>
              </a:defRPr>
            </a:pPr>
            <a:r>
              <a:t>要件定義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920240"/>
            <a:ext cx="1554480" cy="301752"/>
          </a:xfrm>
          <a:prstGeom prst="round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select-standard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920240"/>
            <a:ext cx="1371600" cy="301752"/>
          </a:xfrm>
          <a:prstGeom prst="round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safety-concept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920240"/>
            <a:ext cx="1371600" cy="301752"/>
          </a:xfrm>
          <a:prstGeom prst="round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srs-generate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267712"/>
            <a:ext cx="1371600" cy="301752"/>
          </a:xfrm>
          <a:prstGeom prst="round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fmea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2267712"/>
            <a:ext cx="1554480" cy="301752"/>
          </a:xfrm>
          <a:prstGeom prst="round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switch-standard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560320"/>
            <a:ext cx="2286000" cy="457200"/>
          </a:xfrm>
          <a:prstGeom prst="roundRect">
            <a:avLst/>
          </a:prstGeom>
          <a:solidFill>
            <a:srgbClr val="5B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游ゴシック"/>
              </a:defRPr>
            </a:pPr>
            <a:r>
              <a:t>設計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3108960"/>
            <a:ext cx="1371600" cy="301752"/>
          </a:xfrm>
          <a:prstGeom prst="roundRect">
            <a:avLst/>
          </a:prstGeom>
          <a:solidFill>
            <a:srgbClr val="5B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system-design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3108960"/>
            <a:ext cx="1371600" cy="301752"/>
          </a:xfrm>
          <a:prstGeom prst="roundRect">
            <a:avLst/>
          </a:prstGeom>
          <a:solidFill>
            <a:srgbClr val="5B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sw-design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108960"/>
            <a:ext cx="1371600" cy="301752"/>
          </a:xfrm>
          <a:prstGeom prst="roundRect">
            <a:avLst/>
          </a:prstGeom>
          <a:solidFill>
            <a:srgbClr val="5B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mcu-config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3456432"/>
            <a:ext cx="1371600" cy="301752"/>
          </a:xfrm>
          <a:prstGeom prst="roundRect">
            <a:avLst/>
          </a:prstGeom>
          <a:solidFill>
            <a:srgbClr val="5B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hw-review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3456432"/>
            <a:ext cx="1371600" cy="301752"/>
          </a:xfrm>
          <a:prstGeom prst="roundRect">
            <a:avLst/>
          </a:prstGeom>
          <a:solidFill>
            <a:srgbClr val="5B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memory-map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80" y="3749039"/>
            <a:ext cx="2286000" cy="457200"/>
          </a:xfrm>
          <a:prstGeom prst="roundRect">
            <a:avLst/>
          </a:prstGeom>
          <a:solidFill>
            <a:srgbClr val="8B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游ゴシック"/>
              </a:defRPr>
            </a:pPr>
            <a:r>
              <a:t>実装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4297679"/>
            <a:ext cx="1371600" cy="301752"/>
          </a:xfrm>
          <a:prstGeom prst="roundRect">
            <a:avLst/>
          </a:prstGeom>
          <a:solidFill>
            <a:srgbClr val="8B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driver-gen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4297679"/>
            <a:ext cx="1371600" cy="301752"/>
          </a:xfrm>
          <a:prstGeom prst="roundRect">
            <a:avLst/>
          </a:prstGeom>
          <a:solidFill>
            <a:srgbClr val="8B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motor-control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4297679"/>
            <a:ext cx="1554480" cy="301752"/>
          </a:xfrm>
          <a:prstGeom prst="roundRect">
            <a:avLst/>
          </a:prstGeom>
          <a:solidFill>
            <a:srgbClr val="8B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static-analysis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1371600"/>
            <a:ext cx="2286000" cy="457200"/>
          </a:xfrm>
          <a:prstGeom prst="roundRect">
            <a:avLst/>
          </a:prstGeom>
          <a:solidFill>
            <a:srgbClr val="C05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游ゴシック"/>
              </a:defRPr>
            </a:pPr>
            <a:r>
              <a:t>妥当性確認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1920240"/>
            <a:ext cx="1371600" cy="301752"/>
          </a:xfrm>
          <a:prstGeom prst="roundRect">
            <a:avLst/>
          </a:prstGeom>
          <a:solidFill>
            <a:srgbClr val="C05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safety-verify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9680" y="1920240"/>
            <a:ext cx="1371600" cy="301752"/>
          </a:xfrm>
          <a:prstGeom prst="roundRect">
            <a:avLst/>
          </a:prstGeom>
          <a:solidFill>
            <a:srgbClr val="C05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validate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32720" y="1920240"/>
            <a:ext cx="1371600" cy="301752"/>
          </a:xfrm>
          <a:prstGeom prst="roundRect">
            <a:avLst/>
          </a:prstGeom>
          <a:solidFill>
            <a:srgbClr val="C05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safety-diag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560320"/>
            <a:ext cx="2286000" cy="457200"/>
          </a:xfrm>
          <a:prstGeom prst="roundRect">
            <a:avLst/>
          </a:prstGeom>
          <a:solidFill>
            <a:srgbClr val="6B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游ゴシック"/>
              </a:defRPr>
            </a:pPr>
            <a:r>
              <a:t>テスト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108960"/>
            <a:ext cx="1371600" cy="301752"/>
          </a:xfrm>
          <a:prstGeom prst="roundRect">
            <a:avLst/>
          </a:prstGeom>
          <a:solidFill>
            <a:srgbClr val="6B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test-design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3108960"/>
            <a:ext cx="1371600" cy="301752"/>
          </a:xfrm>
          <a:prstGeom prst="roundRect">
            <a:avLst/>
          </a:prstGeom>
          <a:solidFill>
            <a:srgbClr val="6B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systest-design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3108960"/>
            <a:ext cx="1371600" cy="301752"/>
          </a:xfrm>
          <a:prstGeom prst="roundRect">
            <a:avLst/>
          </a:prstGeom>
          <a:solidFill>
            <a:srgbClr val="6B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test-coverage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20640" y="3749039"/>
            <a:ext cx="2286000" cy="457200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游ゴシック"/>
              </a:defRPr>
            </a:pPr>
            <a:r>
              <a:t>プロセス管理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12080" y="4297679"/>
            <a:ext cx="1371600" cy="301752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execute-phase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4297679"/>
            <a:ext cx="1371600" cy="301752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assess-spice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297679"/>
            <a:ext cx="1371600" cy="301752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manage-tbd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12080" y="4645151"/>
            <a:ext cx="1554480" cy="301752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problem-resolve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0" y="4754880"/>
            <a:ext cx="2011680" cy="457200"/>
          </a:xfrm>
          <a:prstGeom prst="roundRect">
            <a:avLst/>
          </a:prstGeom>
          <a:solidFill>
            <a:srgbClr val="9B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游ゴシック"/>
              </a:defRPr>
            </a:pPr>
            <a:r>
              <a:t>文書・データ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0" y="5303520"/>
            <a:ext cx="1280160" cy="301752"/>
          </a:xfrm>
          <a:prstGeom prst="roundRect">
            <a:avLst/>
          </a:prstGeom>
          <a:solidFill>
            <a:srgbClr val="9B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generate-docs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0" y="5303520"/>
            <a:ext cx="1280160" cy="301752"/>
          </a:xfrm>
          <a:prstGeom prst="roundRect">
            <a:avLst/>
          </a:prstGeom>
          <a:solidFill>
            <a:srgbClr val="9B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trace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5303520"/>
            <a:ext cx="1280160" cy="301752"/>
          </a:xfrm>
          <a:prstGeom prst="roundRect">
            <a:avLst/>
          </a:prstGeom>
          <a:solidFill>
            <a:srgbClr val="9B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游ゴシック"/>
              </a:defRPr>
            </a:pPr>
            <a:r>
              <a:t>ingest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5212080"/>
            <a:ext cx="4114800" cy="36576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0" y="5212080"/>
            <a:ext cx="4114800" cy="36576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0" y="5486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D405B"/>
                </a:solidFill>
                <a:latin typeface="游ゴシック"/>
              </a:defRPr>
            </a:pPr>
            <a:r>
              <a:t>左: 定義→設計→実装　　右: テスト→検証→妥当性確認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1B29A"/>
                </a:solidFill>
                <a:latin typeface="Segoe UI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D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游ゴシック"/>
              </a:defRPr>
            </a:pPr>
            <a:r>
              <a:t>ナレッジベース — 16ファイル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657600" cy="548640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游ゴシック"/>
              </a:defRPr>
            </a:pPr>
            <a:r>
              <a:t>汎用ナレッジ（7本）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234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1B29A"/>
                </a:solidFill>
                <a:latin typeface="游ゴシック"/>
              </a:defRPr>
            </a:pPr>
            <a:r>
              <a:t>~/.claude/knowledge/ に配布 → 全PJで利用可能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2560320" cy="384048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游ゴシック"/>
              </a:defRPr>
            </a:pPr>
            <a:r>
              <a:t>claude_code_ops.md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9476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405B"/>
                </a:solidFill>
                <a:latin typeface="游ゴシック"/>
              </a:defRPr>
            </a:pPr>
            <a:r>
              <a:t>コンテキスト管理・メモリ設計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2560320" cy="384048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游ゴシック"/>
              </a:defRPr>
            </a:pPr>
            <a:r>
              <a:t>claude_platform_updates.md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19476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405B"/>
                </a:solidFill>
                <a:latin typeface="游ゴシック"/>
              </a:defRPr>
            </a:pPr>
            <a:r>
              <a:t>技術巡回履歴・プラットフォーム更新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77440"/>
            <a:ext cx="2560320" cy="384048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游ゴシック"/>
              </a:defRPr>
            </a:pPr>
            <a:r>
              <a:t>skill_lifecycle.md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4048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405B"/>
                </a:solidFill>
                <a:latin typeface="游ゴシック"/>
              </a:defRPr>
            </a:pPr>
            <a:r>
              <a:t>スキル成熟度モデル(L1-L5)定義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377440"/>
            <a:ext cx="2560320" cy="384048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游ゴシック"/>
              </a:defRPr>
            </a:pPr>
            <a:r>
              <a:t>skill_feedback_log.md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4048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405B"/>
                </a:solidFill>
                <a:latin typeface="游ゴシック"/>
              </a:defRPr>
            </a:pPr>
            <a:r>
              <a:t>スキル実行フィードバック記録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834640"/>
            <a:ext cx="2560320" cy="384048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游ゴシック"/>
              </a:defRPr>
            </a:pPr>
            <a:r>
              <a:t>git_worktree_branch_management.md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8620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405B"/>
                </a:solidFill>
                <a:latin typeface="游ゴシック"/>
              </a:defRPr>
            </a:pPr>
            <a:r>
              <a:t>Gitワークツリー・ブランチ戦略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834640"/>
            <a:ext cx="2560320" cy="384048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游ゴシック"/>
              </a:defRPr>
            </a:pPr>
            <a:r>
              <a:t>cross_platform_dev.md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8620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405B"/>
                </a:solidFill>
                <a:latin typeface="游ゴシック"/>
              </a:defRPr>
            </a:pPr>
            <a:r>
              <a:t>Windows/WSL/macOS互換性ガイド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291840"/>
            <a:ext cx="2560320" cy="384048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游ゴシック"/>
              </a:defRPr>
            </a:pPr>
            <a:r>
              <a:t>memory_paths.md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3192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405B"/>
                </a:solidFill>
                <a:latin typeface="游ゴシック"/>
              </a:defRPr>
            </a:pPr>
            <a:r>
              <a:t>メモリパス規約・slug算出ルール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31920"/>
            <a:ext cx="4114800" cy="548640"/>
          </a:xfrm>
          <a:prstGeom prst="round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游ゴシック"/>
              </a:defRPr>
            </a:pPr>
            <a:r>
              <a:t>ドメインナレッジ（9本）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9776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07A5F"/>
                </a:solidFill>
                <a:latin typeface="游ゴシック"/>
              </a:defRPr>
            </a:pPr>
            <a:r>
              <a:t>.claude/knowledge/ に格納 → TORASAN管理下で利用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663440"/>
            <a:ext cx="2560320" cy="347472"/>
          </a:xfrm>
          <a:prstGeom prst="round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游ゴシック"/>
              </a:defRPr>
            </a:pPr>
            <a:r>
              <a:t>iso26262_iec60730.md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67258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405B"/>
                </a:solidFill>
                <a:latin typeface="游ゴシック"/>
              </a:defRPr>
            </a:pPr>
            <a:r>
              <a:t>ISO 26262 / IEC 60730 規格要件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663440"/>
            <a:ext cx="2560320" cy="347472"/>
          </a:xfrm>
          <a:prstGeom prst="round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游ゴシック"/>
              </a:defRPr>
            </a:pPr>
            <a:r>
              <a:t>product_standard_mapping.md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467258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405B"/>
                </a:solidFill>
                <a:latin typeface="游ゴシック"/>
              </a:defRPr>
            </a:pPr>
            <a:r>
              <a:t>製品カテゴリ→規格マッピング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074920"/>
            <a:ext cx="2560320" cy="347472"/>
          </a:xfrm>
          <a:prstGeom prst="round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游ゴシック"/>
              </a:defRPr>
            </a:pPr>
            <a:r>
              <a:t>automotive_spice.md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508406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405B"/>
                </a:solidFill>
                <a:latin typeface="游ゴシック"/>
              </a:defRPr>
            </a:pPr>
            <a:r>
              <a:t>Automotive SPICE プロセスモデル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5074920"/>
            <a:ext cx="2560320" cy="347472"/>
          </a:xfrm>
          <a:prstGeom prst="round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游ゴシック"/>
              </a:defRPr>
            </a:pPr>
            <a:r>
              <a:t>safety_case_gsn.md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508406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405B"/>
                </a:solidFill>
                <a:latin typeface="游ゴシック"/>
              </a:defRPr>
            </a:pPr>
            <a:r>
              <a:t>GSN安全論証ノーテーション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486400"/>
            <a:ext cx="2560320" cy="347472"/>
          </a:xfrm>
          <a:prstGeom prst="round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游ゴシック"/>
              </a:defRPr>
            </a:pPr>
            <a:r>
              <a:t>safety_diagnostics.md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54955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405B"/>
                </a:solidFill>
                <a:latin typeface="游ゴシック"/>
              </a:defRPr>
            </a:pPr>
            <a:r>
              <a:t>安全診断メカニズム設計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5486400"/>
            <a:ext cx="2560320" cy="347472"/>
          </a:xfrm>
          <a:prstGeom prst="round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游ゴシック"/>
              </a:defRPr>
            </a:pPr>
            <a:r>
              <a:t>misra_c_2012.md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54955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405B"/>
                </a:solidFill>
                <a:latin typeface="游ゴシック"/>
              </a:defRPr>
            </a:pPr>
            <a:r>
              <a:t>MISRA C:2012 コーディング規約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897879"/>
            <a:ext cx="2560320" cy="347472"/>
          </a:xfrm>
          <a:prstGeom prst="round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游ゴシック"/>
              </a:defRPr>
            </a:pPr>
            <a:r>
              <a:t>fmea_guide.md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590702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405B"/>
                </a:solidFill>
                <a:latin typeface="游ゴシック"/>
              </a:defRPr>
            </a:pPr>
            <a:r>
              <a:t>FMEA故障モード影響解析ガイド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897879"/>
            <a:ext cx="2560320" cy="347472"/>
          </a:xfrm>
          <a:prstGeom prst="round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游ゴシック"/>
              </a:defRPr>
            </a:pPr>
            <a:r>
              <a:t>bldc_safety.md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590702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405B"/>
                </a:solidFill>
                <a:latin typeface="游ゴシック"/>
              </a:defRPr>
            </a:pPr>
            <a:r>
              <a:t>BLDCモータ制御安全要件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6309359"/>
            <a:ext cx="2560320" cy="347472"/>
          </a:xfrm>
          <a:prstGeom prst="round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游ゴシック"/>
              </a:defRPr>
            </a:pPr>
            <a:r>
              <a:t>srs_template.md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08960" y="631850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405B"/>
                </a:solidFill>
                <a:latin typeface="游ゴシック"/>
              </a:defRPr>
            </a:pPr>
            <a:r>
              <a:t>SRSテンプレート・要件仕様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1B29A"/>
                </a:solidFill>
                <a:latin typeface="Segoe UI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D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游ゴシック"/>
              </a:defRPr>
            </a:pPr>
            <a:r>
              <a:t>配布モデル — install.sh &amp; /repo-manage sync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371600"/>
            <a:ext cx="3931920" cy="1097280"/>
          </a:xfrm>
          <a:prstGeom prst="round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/>
            </a:pPr>
            <a:r>
              <a:t>TORASAN</a:t>
            </a:r>
          </a:p>
          <a:p>
            <a:pPr algn="ctr">
              <a:defRPr sz="1100">
                <a:solidFill>
                  <a:srgbClr val="FFEEDD"/>
                </a:solidFill>
              </a:defRPr>
            </a:pPr>
            <a:r>
              <a:t>.claude/skills/ (41)  |  .claude/knowledge/ (16)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1B29A"/>
                </a:solidFill>
                <a:latin typeface="Segoe UI"/>
              </a:defRPr>
            </a:pPr>
            <a:r>
              <a:t>install.sh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828800" y="3291840"/>
            <a:ext cx="1371600" cy="365760"/>
          </a:xfrm>
          <a:prstGeom prst="rightArrow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74720" y="3017520"/>
            <a:ext cx="3200400" cy="914400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~/.claude/</a:t>
            </a:r>
          </a:p>
          <a:p>
            <a:pPr algn="ctr">
              <a:defRPr sz="1100">
                <a:solidFill>
                  <a:srgbClr val="EEFFEE"/>
                </a:solidFill>
              </a:defRPr>
            </a:pPr>
            <a:r>
              <a:t>skills/ (15本)  +  knowledge/ (7本)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949440" y="3291840"/>
            <a:ext cx="1188720" cy="365760"/>
          </a:xfrm>
          <a:prstGeom prst="rightArrow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0" y="3017520"/>
            <a:ext cx="3017520" cy="914400"/>
          </a:xfrm>
          <a:prstGeom prst="roundRect">
            <a:avLst/>
          </a:prstGeom>
          <a:solidFill>
            <a:srgbClr val="C8E0D2"/>
          </a:solidFill>
          <a:ln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B7553"/>
                </a:solidFill>
                <a:latin typeface="游ゴシック"/>
              </a:defRPr>
            </a:pPr>
            <a:r>
              <a:t>全プロジェクト</a:t>
            </a:r>
            <a:br/>
            <a:r>
              <a:t>で自動利用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07A5F"/>
                </a:solidFill>
                <a:latin typeface="Segoe UI"/>
              </a:defRPr>
            </a:pPr>
            <a:r>
              <a:t>/repo-manage sync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286000" y="5120640"/>
            <a:ext cx="1188720" cy="365760"/>
          </a:xfrm>
          <a:prstGeom prst="rightArrow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0" y="4754880"/>
            <a:ext cx="3017520" cy="914400"/>
          </a:xfrm>
          <a:prstGeom prst="round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ドメインスキル配布</a:t>
            </a:r>
          </a:p>
          <a:p>
            <a:pPr algn="ctr">
              <a:defRPr sz="1100">
                <a:solidFill>
                  <a:srgbClr val="FFEEDD"/>
                </a:solidFill>
              </a:defRPr>
            </a:pPr>
            <a:r>
              <a:t>26本のドメインスキルを個別配布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949440" y="5029200"/>
            <a:ext cx="1188720" cy="365760"/>
          </a:xfrm>
          <a:prstGeom prst="rightArrow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0" y="4572000"/>
            <a:ext cx="2286000" cy="384048"/>
          </a:xfrm>
          <a:prstGeom prst="roundRect">
            <a:avLst/>
          </a:prstGeom>
          <a:solidFill>
            <a:srgbClr val="F0AA8F"/>
          </a:solidFill>
          <a:ln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3D405B"/>
                </a:solidFill>
                <a:latin typeface="游ゴシック"/>
              </a:defRPr>
            </a:pPr>
            <a:r>
              <a:t>PJ-A (.claude/skills/)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59" y="5029200"/>
            <a:ext cx="2286000" cy="384048"/>
          </a:xfrm>
          <a:prstGeom prst="roundRect">
            <a:avLst/>
          </a:prstGeom>
          <a:solidFill>
            <a:srgbClr val="F0AA8F"/>
          </a:solidFill>
          <a:ln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3D405B"/>
                </a:solidFill>
                <a:latin typeface="游ゴシック"/>
              </a:defRPr>
            </a:pPr>
            <a:r>
              <a:t>PJ-B (.claude/skills/)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5486400"/>
            <a:ext cx="2286000" cy="384048"/>
          </a:xfrm>
          <a:prstGeom prst="roundRect">
            <a:avLst/>
          </a:prstGeom>
          <a:solidFill>
            <a:srgbClr val="F0AA8F"/>
          </a:solidFill>
          <a:ln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3D405B"/>
                </a:solidFill>
                <a:latin typeface="游ゴシック"/>
              </a:defRPr>
            </a:pPr>
            <a:r>
              <a:t>PJ-C (.claude/skills/)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468880"/>
            <a:ext cx="36576" cy="548640"/>
          </a:xfrm>
          <a:prstGeom prst="rect">
            <a:avLst/>
          </a:prstGeom>
          <a:solidFill>
            <a:srgbClr val="3D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4114800"/>
            <a:ext cx="36576" cy="640080"/>
          </a:xfrm>
          <a:prstGeom prst="rect">
            <a:avLst/>
          </a:prstGeom>
          <a:solidFill>
            <a:srgbClr val="3D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1B29A"/>
                </a:solidFill>
                <a:latin typeface="Segoe UI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D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游ゴシック"/>
              </a:defRPr>
            </a:pPr>
            <a:r>
              <a:t>スキル成熟度モデル — L1 → L5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4572000"/>
            <a:ext cx="10972800" cy="640080"/>
          </a:xfrm>
          <a:prstGeom prst="roundRect">
            <a:avLst/>
          </a:prstGeom>
          <a:solidFill>
            <a:srgbClr val="C8E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L1  Draft</a:t>
            </a:r>
          </a:p>
          <a:p>
            <a:pPr algn="l">
              <a:defRPr sz="1200">
                <a:solidFill>
                  <a:srgbClr val="FFFFDD"/>
                </a:solidFill>
              </a:defRPr>
            </a:pPr>
            <a:r>
              <a:t>ファイル存在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40480"/>
            <a:ext cx="10058400" cy="640080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L2  Active</a:t>
            </a:r>
          </a:p>
          <a:p>
            <a:pPr algn="l">
              <a:defRPr sz="1200">
                <a:solidFill>
                  <a:srgbClr val="FFFFDD"/>
                </a:solidFill>
              </a:defRPr>
            </a:pPr>
            <a:r>
              <a:t>+ナレッジ参照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3108960"/>
            <a:ext cx="9144000" cy="640080"/>
          </a:xfrm>
          <a:prstGeom prst="roundRect">
            <a:avLst/>
          </a:prstGeom>
          <a:solidFill>
            <a:srgbClr val="F2C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L3  Practiced</a:t>
            </a:r>
          </a:p>
          <a:p>
            <a:pPr algn="l">
              <a:defRPr sz="1200">
                <a:solidFill>
                  <a:srgbClr val="FFFFDD"/>
                </a:solidFill>
              </a:defRPr>
            </a:pPr>
            <a:r>
              <a:t>+FB記録(1回以上)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377439"/>
            <a:ext cx="8229600" cy="640080"/>
          </a:xfrm>
          <a:prstGeom prst="round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L4  Mature</a:t>
            </a:r>
          </a:p>
          <a:p>
            <a:pPr algn="l">
              <a:defRPr sz="1200">
                <a:solidFill>
                  <a:srgbClr val="FFFFDD"/>
                </a:solidFill>
              </a:defRPr>
            </a:pPr>
            <a:r>
              <a:t>+改善1回以上, 評価≥4.0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645919"/>
            <a:ext cx="7315200" cy="640080"/>
          </a:xfrm>
          <a:prstGeom prst="roundRect">
            <a:avLst/>
          </a:prstGeom>
          <a:solidFill>
            <a:srgbClr val="C05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L5  Optimized</a:t>
            </a:r>
          </a:p>
          <a:p>
            <a:pPr algn="l">
              <a:defRPr sz="1200">
                <a:solidFill>
                  <a:srgbClr val="FFFFDD"/>
                </a:solidFill>
              </a:defRPr>
            </a:pPr>
            <a:r>
              <a:t>+改善2回以上, 評価≥4.5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D405B"/>
                </a:solidFill>
                <a:latin typeface="游ゴシック"/>
              </a:defRPr>
            </a:pPr>
            <a:r>
              <a:t>PDCA 改善サイクル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737360"/>
            <a:ext cx="1645920" cy="640080"/>
          </a:xfrm>
          <a:prstGeom prst="round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Plan</a:t>
            </a:r>
          </a:p>
          <a:p>
            <a:pPr algn="ctr">
              <a:defRPr sz="1000">
                <a:solidFill>
                  <a:srgbClr val="FFFFDD"/>
                </a:solidFill>
              </a:defRPr>
            </a:pPr>
            <a:r>
              <a:t>ギャップ分析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2468880"/>
            <a:ext cx="1645920" cy="640080"/>
          </a:xfrm>
          <a:prstGeom prst="round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Do</a:t>
            </a:r>
          </a:p>
          <a:p>
            <a:pPr algn="ctr">
              <a:defRPr sz="1000">
                <a:solidFill>
                  <a:srgbClr val="FFFFDD"/>
                </a:solidFill>
              </a:defRPr>
            </a:pPr>
            <a:r>
              <a:t>スキル改善適用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3200400"/>
            <a:ext cx="1645920" cy="640080"/>
          </a:xfrm>
          <a:prstGeom prst="roundRect">
            <a:avLst/>
          </a:prstGeom>
          <a:solidFill>
            <a:srgbClr val="F2C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Check</a:t>
            </a:r>
          </a:p>
          <a:p>
            <a:pPr algn="ctr">
              <a:defRPr sz="1000">
                <a:solidFill>
                  <a:srgbClr val="FFFFDD"/>
                </a:solidFill>
              </a:defRPr>
            </a:pPr>
            <a:r>
              <a:t>フィードバック収集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468880"/>
            <a:ext cx="1645920" cy="640080"/>
          </a:xfrm>
          <a:prstGeom prst="roundRect">
            <a:avLst/>
          </a:prstGeom>
          <a:solidFill>
            <a:srgbClr val="5B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Act</a:t>
            </a:r>
          </a:p>
          <a:p>
            <a:pPr algn="ctr">
              <a:defRPr sz="1000">
                <a:solidFill>
                  <a:srgbClr val="FFFFDD"/>
                </a:solidFill>
              </a:defRPr>
            </a:pPr>
            <a:r>
              <a:t>ナレッジ更新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D405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D405B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D405B"/>
                </a:solidFill>
                <a:latin typeface="Segoe UI"/>
              </a:defRPr>
            </a:pPr>
            <a:r>
              <a:t>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D405B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394960"/>
            <a:ext cx="73152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1B29A"/>
                </a:solidFill>
                <a:latin typeface="Segoe UI"/>
              </a:defRPr>
            </a:pPr>
            <a:r>
              <a:t>/skill-evolve feedback → /skill-evolve analyze → /skill-evolve improve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1B29A"/>
                </a:solidFill>
                <a:latin typeface="Segoe UI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D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游ゴシック"/>
              </a:defRPr>
            </a:pPr>
            <a:r>
              <a:t>まとめ — TORASAN がもたらす3つの価値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1645920"/>
            <a:ext cx="2743200" cy="2743200"/>
          </a:xfrm>
          <a:prstGeom prst="ellipse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再利用性</a:t>
            </a:r>
          </a:p>
          <a:p>
            <a:pPr>
              <a:defRPr sz="600"/>
            </a:pPr>
          </a:p>
          <a:p>
            <a:pPr algn="ctr">
              <a:defRPr sz="1300">
                <a:solidFill>
                  <a:srgbClr val="FFFFEE"/>
                </a:solidFill>
              </a:defRPr>
            </a:pPr>
            <a:r>
              <a:t>一度作ったスキルを</a:t>
            </a:r>
            <a:br/>
            <a:r>
              <a:t>全PJで共有・活用</a:t>
            </a:r>
          </a:p>
        </p:txBody>
      </p:sp>
      <p:sp>
        <p:nvSpPr>
          <p:cNvPr id="5" name="Oval 4"/>
          <p:cNvSpPr/>
          <p:nvPr/>
        </p:nvSpPr>
        <p:spPr>
          <a:xfrm>
            <a:off x="4572000" y="1645920"/>
            <a:ext cx="2743200" cy="2743200"/>
          </a:xfrm>
          <a:prstGeom prst="ellipse">
            <a:avLst/>
          </a:prstGeom>
          <a:solidFill>
            <a:srgbClr val="81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品質向上</a:t>
            </a:r>
          </a:p>
          <a:p>
            <a:pPr>
              <a:defRPr sz="600"/>
            </a:pPr>
          </a:p>
          <a:p>
            <a:pPr algn="ctr">
              <a:defRPr sz="1300">
                <a:solidFill>
                  <a:srgbClr val="FFFFEE"/>
                </a:solidFill>
              </a:defRPr>
            </a:pPr>
            <a:r>
              <a:t>成熟度モデルL1→L5</a:t>
            </a:r>
            <a:br/>
            <a:r>
              <a:t>PDCAで継続的改善</a:t>
            </a:r>
          </a:p>
        </p:txBody>
      </p:sp>
      <p:sp>
        <p:nvSpPr>
          <p:cNvPr id="6" name="Oval 5"/>
          <p:cNvSpPr/>
          <p:nvPr/>
        </p:nvSpPr>
        <p:spPr>
          <a:xfrm>
            <a:off x="7772400" y="1645920"/>
            <a:ext cx="2743200" cy="2743200"/>
          </a:xfrm>
          <a:prstGeom prst="ellipse">
            <a:avLst/>
          </a:prstGeom>
          <a:solidFill>
            <a:srgbClr val="5B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自動化</a:t>
            </a:r>
          </a:p>
          <a:p>
            <a:pPr>
              <a:defRPr sz="600"/>
            </a:pPr>
          </a:p>
          <a:p>
            <a:pPr algn="ctr">
              <a:defRPr sz="1300">
                <a:solidFill>
                  <a:srgbClr val="FFFFEE"/>
                </a:solidFill>
              </a:defRPr>
            </a:pPr>
            <a:r>
              <a:t>AI (Claude) が</a:t>
            </a:r>
            <a:br/>
            <a:r>
              <a:t>スキルを実行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754880"/>
            <a:ext cx="10332720" cy="1371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93776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D405B"/>
                </a:solidFill>
                <a:latin typeface="游ゴシック"/>
              </a:defRPr>
            </a:pPr>
            <a:r>
              <a:t>TORASAN = スキル(実行する知恵) + ナレッジ(参照する知識) の統合管理</a:t>
            </a:r>
          </a:p>
          <a:p>
            <a:pPr algn="ctr">
              <a:spcBef>
                <a:spcPts val="800"/>
              </a:spcBef>
              <a:defRPr sz="1500" b="1">
                <a:solidFill>
                  <a:srgbClr val="E07A5F"/>
                </a:solidFill>
              </a:defRPr>
            </a:pPr>
            <a:r>
              <a:t>41スキル + 16ナレッジが連携し、機能安全開発の全フェーズをAIが自動実行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1B29A"/>
                </a:solidFill>
                <a:latin typeface="Segoe UI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