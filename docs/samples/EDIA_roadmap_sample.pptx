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Oval 1"/>
          <p:cNvSpPr/>
          <p:nvPr/>
        </p:nvSpPr>
        <p:spPr>
          <a:xfrm>
            <a:off x="9144000" y="3657600"/>
            <a:ext cx="4572000" cy="4572000"/>
          </a:xfrm>
          <a:prstGeom prst="ellipse">
            <a:avLst/>
          </a:prstGeom>
          <a:solidFill>
            <a:srgbClr val="CC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4389120"/>
            <a:ext cx="3657600" cy="3657600"/>
          </a:xfrm>
          <a:prstGeom prst="ellips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914400"/>
            <a:ext cx="2743200" cy="2743200"/>
          </a:xfrm>
          <a:prstGeom prst="ellipse">
            <a:avLst/>
          </a:prstGeom>
          <a:solidFill>
            <a:srgbClr val="CCE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 y="5029200"/>
            <a:ext cx="2286000" cy="2286000"/>
          </a:xfrm>
          <a:prstGeom prst="ellipse">
            <a:avLst/>
          </a:prstGeom>
          <a:solidFill>
            <a:srgbClr val="CCE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645920"/>
            <a:ext cx="7315200" cy="1097280"/>
          </a:xfrm>
          <a:prstGeom prst="rect">
            <a:avLst/>
          </a:prstGeom>
          <a:noFill/>
        </p:spPr>
        <p:txBody>
          <a:bodyPr wrap="square">
            <a:spAutoFit/>
          </a:bodyPr>
          <a:lstStyle/>
          <a:p>
            <a:pPr algn="l">
              <a:defRPr sz="4800" b="1">
                <a:solidFill>
                  <a:srgbClr val="1A1A2E"/>
                </a:solidFill>
                <a:latin typeface="游ゴシック"/>
              </a:defRPr>
            </a:pPr>
            <a:r>
              <a:t>EDIA</a:t>
            </a:r>
          </a:p>
        </p:txBody>
      </p:sp>
      <p:sp>
        <p:nvSpPr>
          <p:cNvPr id="8" name="TextBox 7"/>
          <p:cNvSpPr txBox="1"/>
          <p:nvPr/>
        </p:nvSpPr>
        <p:spPr>
          <a:xfrm>
            <a:off x="1188720" y="2834640"/>
            <a:ext cx="7315200" cy="640080"/>
          </a:xfrm>
          <a:prstGeom prst="rect">
            <a:avLst/>
          </a:prstGeom>
          <a:noFill/>
        </p:spPr>
        <p:txBody>
          <a:bodyPr wrap="square">
            <a:spAutoFit/>
          </a:bodyPr>
          <a:lstStyle/>
          <a:p>
            <a:pPr algn="l">
              <a:defRPr sz="2400" b="1">
                <a:solidFill>
                  <a:srgbClr val="0066CC"/>
                </a:solidFill>
                <a:latin typeface="游ゴシック"/>
              </a:defRPr>
            </a:pPr>
            <a:r>
              <a:t>AI×組込み開発 ロードマップ</a:t>
            </a:r>
          </a:p>
        </p:txBody>
      </p:sp>
      <p:sp>
        <p:nvSpPr>
          <p:cNvPr id="9" name="TextBox 8"/>
          <p:cNvSpPr txBox="1"/>
          <p:nvPr/>
        </p:nvSpPr>
        <p:spPr>
          <a:xfrm>
            <a:off x="1188720" y="3657600"/>
            <a:ext cx="7315200" cy="640080"/>
          </a:xfrm>
          <a:prstGeom prst="rect">
            <a:avLst/>
          </a:prstGeom>
          <a:noFill/>
        </p:spPr>
        <p:txBody>
          <a:bodyPr wrap="square">
            <a:spAutoFit/>
          </a:bodyPr>
          <a:lstStyle/>
          <a:p>
            <a:pPr algn="l">
              <a:defRPr sz="1600" b="0">
                <a:solidFill>
                  <a:srgbClr val="333333"/>
                </a:solidFill>
                <a:latin typeface="游ゴシック"/>
              </a:defRPr>
            </a:pPr>
            <a:r>
              <a:t>「AIを導入するか否か」ではなく「AIにどれだけ質の高いドメイン知識を食わせられるか」が競争力を決める</a:t>
            </a:r>
          </a:p>
        </p:txBody>
      </p:sp>
      <p:sp>
        <p:nvSpPr>
          <p:cNvPr id="10" name="Rounded Rectangle 9"/>
          <p:cNvSpPr/>
          <p:nvPr/>
        </p:nvSpPr>
        <p:spPr>
          <a:xfrm>
            <a:off x="1188720" y="4389120"/>
            <a:ext cx="1371600" cy="457200"/>
          </a:xfrm>
          <a:prstGeom prst="round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游ゴシック"/>
              </a:defRPr>
            </a:pPr>
            <a:r>
              <a:t>v1.0</a:t>
            </a:r>
          </a:p>
        </p:txBody>
      </p:sp>
      <p:sp>
        <p:nvSpPr>
          <p:cNvPr id="11" name="Rounded Rectangle 10"/>
          <p:cNvSpPr/>
          <p:nvPr/>
        </p:nvSpPr>
        <p:spPr>
          <a:xfrm>
            <a:off x="2834640" y="4389120"/>
            <a:ext cx="1371600" cy="457200"/>
          </a:xfrm>
          <a:prstGeom prst="round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游ゴシック"/>
              </a:defRPr>
            </a:pPr>
            <a:r>
              <a:t>2026.03</a:t>
            </a:r>
          </a:p>
        </p:txBody>
      </p:sp>
      <p:sp>
        <p:nvSpPr>
          <p:cNvPr id="12" name="Rectangle 11"/>
          <p:cNvSpPr/>
          <p:nvPr/>
        </p:nvSpPr>
        <p:spPr>
          <a:xfrm>
            <a:off x="0" y="6537960"/>
            <a:ext cx="12191695" cy="3200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0" y="6446520"/>
            <a:ext cx="914400" cy="365760"/>
          </a:xfrm>
          <a:prstGeom prst="rect">
            <a:avLst/>
          </a:prstGeom>
          <a:noFill/>
        </p:spPr>
        <p:txBody>
          <a:bodyPr wrap="square">
            <a:spAutoFit/>
          </a:bodyPr>
          <a:lstStyle/>
          <a:p>
            <a:pPr algn="r">
              <a:defRPr sz="1000" b="0">
                <a:solidFill>
                  <a:srgbClr val="009966"/>
                </a:solidFill>
                <a:latin typeface="游ゴシック"/>
              </a:defRPr>
            </a:pPr>
            <a: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游ゴシック"/>
              </a:defRPr>
            </a:pPr>
            <a:r>
              <a:t>技術的可能性と限界分析</a:t>
            </a:r>
          </a:p>
        </p:txBody>
      </p:sp>
      <p:sp>
        <p:nvSpPr>
          <p:cNvPr id="4" name="TextBox 3"/>
          <p:cNvSpPr txBox="1"/>
          <p:nvPr/>
        </p:nvSpPr>
        <p:spPr>
          <a:xfrm>
            <a:off x="457200" y="1051560"/>
            <a:ext cx="10972800" cy="320040"/>
          </a:xfrm>
          <a:prstGeom prst="rect">
            <a:avLst/>
          </a:prstGeom>
          <a:noFill/>
        </p:spPr>
        <p:txBody>
          <a:bodyPr wrap="square">
            <a:spAutoFit/>
          </a:bodyPr>
          <a:lstStyle/>
          <a:p>
            <a:pPr algn="ctr">
              <a:defRPr sz="1200" b="0">
                <a:solidFill>
                  <a:srgbClr val="333333"/>
                </a:solidFill>
                <a:latin typeface="游ゴシック"/>
              </a:defRPr>
            </a:pPr>
            <a:r>
              <a:t>ドメイン特化AIエージェントによる組込み開発プロセスの自動化</a:t>
            </a:r>
          </a:p>
        </p:txBody>
      </p:sp>
      <p:sp>
        <p:nvSpPr>
          <p:cNvPr id="5" name="Rounded Rectangle 4"/>
          <p:cNvSpPr/>
          <p:nvPr/>
        </p:nvSpPr>
        <p:spPr>
          <a:xfrm>
            <a:off x="335127" y="1508760"/>
            <a:ext cx="2743200" cy="50292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游ゴシック"/>
              </a:defRPr>
            </a:pPr>
            <a:r>
              <a:t>Phase 1 (2026-2027)</a:t>
            </a:r>
          </a:p>
        </p:txBody>
      </p:sp>
      <p:sp>
        <p:nvSpPr>
          <p:cNvPr id="6" name="TextBox 5"/>
          <p:cNvSpPr txBox="1"/>
          <p:nvPr/>
        </p:nvSpPr>
        <p:spPr>
          <a:xfrm>
            <a:off x="335127" y="2057400"/>
            <a:ext cx="2743200" cy="274320"/>
          </a:xfrm>
          <a:prstGeom prst="rect">
            <a:avLst/>
          </a:prstGeom>
          <a:noFill/>
        </p:spPr>
        <p:txBody>
          <a:bodyPr wrap="square">
            <a:spAutoFit/>
          </a:bodyPr>
          <a:lstStyle/>
          <a:p>
            <a:pPr algn="ctr">
              <a:defRPr sz="1100" b="1">
                <a:solidFill>
                  <a:srgbClr val="0066CC"/>
                </a:solidFill>
                <a:latin typeface="游ゴシック"/>
              </a:defRPr>
            </a:pPr>
            <a:r>
              <a:t>汎用AIエージェント基盤構築期</a:t>
            </a:r>
          </a:p>
        </p:txBody>
      </p:sp>
      <p:sp>
        <p:nvSpPr>
          <p:cNvPr id="7" name="Rectangle 6"/>
          <p:cNvSpPr/>
          <p:nvPr/>
        </p:nvSpPr>
        <p:spPr>
          <a:xfrm>
            <a:off x="3169767" y="1508760"/>
            <a:ext cx="18288" cy="4389120"/>
          </a:xfrm>
          <a:prstGeom prst="rect">
            <a:avLst/>
          </a:prstGeom>
          <a:solidFill>
            <a:srgbClr val="CC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6567" y="2423160"/>
            <a:ext cx="2560320" cy="228600"/>
          </a:xfrm>
          <a:prstGeom prst="rect">
            <a:avLst/>
          </a:prstGeom>
          <a:noFill/>
        </p:spPr>
        <p:txBody>
          <a:bodyPr wrap="square">
            <a:spAutoFit/>
          </a:bodyPr>
          <a:lstStyle/>
          <a:p>
            <a:pPr algn="l">
              <a:defRPr sz="1100" b="1">
                <a:solidFill>
                  <a:srgbClr val="0066CC"/>
                </a:solidFill>
                <a:latin typeface="游ゴシック"/>
              </a:defRPr>
            </a:pPr>
            <a:r>
              <a:t>可能</a:t>
            </a:r>
          </a:p>
        </p:txBody>
      </p:sp>
      <p:sp>
        <p:nvSpPr>
          <p:cNvPr id="9" name="TextBox 8"/>
          <p:cNvSpPr txBox="1"/>
          <p:nvPr/>
        </p:nvSpPr>
        <p:spPr>
          <a:xfrm>
            <a:off x="472287" y="2679192"/>
            <a:ext cx="2468880" cy="201168"/>
          </a:xfrm>
          <a:prstGeom prst="rect">
            <a:avLst/>
          </a:prstGeom>
          <a:noFill/>
        </p:spPr>
        <p:txBody>
          <a:bodyPr wrap="square">
            <a:spAutoFit/>
          </a:bodyPr>
          <a:lstStyle/>
          <a:p>
            <a:pPr algn="l">
              <a:defRPr sz="900" b="0">
                <a:solidFill>
                  <a:srgbClr val="333333"/>
                </a:solidFill>
                <a:latin typeface="游ゴシック"/>
              </a:defRPr>
            </a:pPr>
            <a:r>
              <a:t>- 文書自動生成、ソフトウェア設計テスト自動化</a:t>
            </a:r>
          </a:p>
        </p:txBody>
      </p:sp>
      <p:sp>
        <p:nvSpPr>
          <p:cNvPr id="10" name="TextBox 9"/>
          <p:cNvSpPr txBox="1"/>
          <p:nvPr/>
        </p:nvSpPr>
        <p:spPr>
          <a:xfrm>
            <a:off x="472287" y="2880360"/>
            <a:ext cx="2468880" cy="201168"/>
          </a:xfrm>
          <a:prstGeom prst="rect">
            <a:avLst/>
          </a:prstGeom>
          <a:noFill/>
        </p:spPr>
        <p:txBody>
          <a:bodyPr wrap="square">
            <a:spAutoFit/>
          </a:bodyPr>
          <a:lstStyle/>
          <a:p>
            <a:pPr algn="l">
              <a:defRPr sz="900" b="0">
                <a:solidFill>
                  <a:srgbClr val="333333"/>
                </a:solidFill>
                <a:latin typeface="游ゴシック"/>
              </a:defRPr>
            </a:pPr>
            <a:r>
              <a:t>- 構成管理自動化</a:t>
            </a:r>
          </a:p>
        </p:txBody>
      </p:sp>
      <p:sp>
        <p:nvSpPr>
          <p:cNvPr id="11" name="TextBox 10"/>
          <p:cNvSpPr txBox="1"/>
          <p:nvPr/>
        </p:nvSpPr>
        <p:spPr>
          <a:xfrm>
            <a:off x="472287" y="3081528"/>
            <a:ext cx="2468880" cy="201168"/>
          </a:xfrm>
          <a:prstGeom prst="rect">
            <a:avLst/>
          </a:prstGeom>
          <a:noFill/>
        </p:spPr>
        <p:txBody>
          <a:bodyPr wrap="square">
            <a:spAutoFit/>
          </a:bodyPr>
          <a:lstStyle/>
          <a:p>
            <a:pPr algn="l">
              <a:defRPr sz="900" b="0">
                <a:solidFill>
                  <a:srgbClr val="333333"/>
                </a:solidFill>
                <a:latin typeface="游ゴシック"/>
              </a:defRPr>
            </a:pPr>
            <a:r>
              <a:t>- MISRA-C準拠コード生成、静的解析自動実行</a:t>
            </a:r>
          </a:p>
        </p:txBody>
      </p:sp>
      <p:sp>
        <p:nvSpPr>
          <p:cNvPr id="12" name="TextBox 11"/>
          <p:cNvSpPr txBox="1"/>
          <p:nvPr/>
        </p:nvSpPr>
        <p:spPr>
          <a:xfrm>
            <a:off x="426567" y="3374136"/>
            <a:ext cx="2560320" cy="228600"/>
          </a:xfrm>
          <a:prstGeom prst="rect">
            <a:avLst/>
          </a:prstGeom>
          <a:noFill/>
        </p:spPr>
        <p:txBody>
          <a:bodyPr wrap="square">
            <a:spAutoFit/>
          </a:bodyPr>
          <a:lstStyle/>
          <a:p>
            <a:pPr algn="l">
              <a:defRPr sz="1100" b="1">
                <a:solidFill>
                  <a:srgbClr val="0066CC"/>
                </a:solidFill>
                <a:latin typeface="游ゴシック"/>
              </a:defRPr>
            </a:pPr>
            <a:r>
              <a:t>限界</a:t>
            </a:r>
          </a:p>
        </p:txBody>
      </p:sp>
      <p:sp>
        <p:nvSpPr>
          <p:cNvPr id="13" name="TextBox 12"/>
          <p:cNvSpPr txBox="1"/>
          <p:nvPr/>
        </p:nvSpPr>
        <p:spPr>
          <a:xfrm>
            <a:off x="472287" y="3630168"/>
            <a:ext cx="2468880" cy="201168"/>
          </a:xfrm>
          <a:prstGeom prst="rect">
            <a:avLst/>
          </a:prstGeom>
          <a:noFill/>
        </p:spPr>
        <p:txBody>
          <a:bodyPr wrap="square">
            <a:spAutoFit/>
          </a:bodyPr>
          <a:lstStyle/>
          <a:p>
            <a:pPr algn="l">
              <a:defRPr sz="900" b="0">
                <a:solidFill>
                  <a:srgbClr val="333333"/>
                </a:solidFill>
                <a:latin typeface="游ゴシック"/>
              </a:defRPr>
            </a:pPr>
            <a:r>
              <a:t>- 規格が人間による安全判断を前提</a:t>
            </a:r>
          </a:p>
        </p:txBody>
      </p:sp>
      <p:sp>
        <p:nvSpPr>
          <p:cNvPr id="14" name="TextBox 13"/>
          <p:cNvSpPr txBox="1"/>
          <p:nvPr/>
        </p:nvSpPr>
        <p:spPr>
          <a:xfrm>
            <a:off x="472287" y="3831336"/>
            <a:ext cx="2468880" cy="201168"/>
          </a:xfrm>
          <a:prstGeom prst="rect">
            <a:avLst/>
          </a:prstGeom>
          <a:noFill/>
        </p:spPr>
        <p:txBody>
          <a:bodyPr wrap="square">
            <a:spAutoFit/>
          </a:bodyPr>
          <a:lstStyle/>
          <a:p>
            <a:pPr algn="l">
              <a:defRPr sz="900" b="0">
                <a:solidFill>
                  <a:srgbClr val="333333"/>
                </a:solidFill>
                <a:latin typeface="游ゴシック"/>
              </a:defRPr>
            </a:pPr>
            <a:r>
              <a:t>- 法的責任・認証がAI成果物を未想定</a:t>
            </a:r>
          </a:p>
        </p:txBody>
      </p:sp>
      <p:sp>
        <p:nvSpPr>
          <p:cNvPr id="15" name="TextBox 14"/>
          <p:cNvSpPr txBox="1"/>
          <p:nvPr/>
        </p:nvSpPr>
        <p:spPr>
          <a:xfrm>
            <a:off x="472287" y="4032504"/>
            <a:ext cx="2468880" cy="201168"/>
          </a:xfrm>
          <a:prstGeom prst="rect">
            <a:avLst/>
          </a:prstGeom>
          <a:noFill/>
        </p:spPr>
        <p:txBody>
          <a:bodyPr wrap="square">
            <a:spAutoFit/>
          </a:bodyPr>
          <a:lstStyle/>
          <a:p>
            <a:pPr algn="l">
              <a:defRPr sz="900" b="0">
                <a:solidFill>
                  <a:srgbClr val="333333"/>
                </a:solidFill>
                <a:latin typeface="游ゴシック"/>
              </a:defRPr>
            </a:pPr>
            <a:r>
              <a:t>- ドメイン知識不足で実効適用20-30%</a:t>
            </a:r>
          </a:p>
        </p:txBody>
      </p:sp>
      <p:sp>
        <p:nvSpPr>
          <p:cNvPr id="16" name="Rounded Rectangle 15"/>
          <p:cNvSpPr/>
          <p:nvPr/>
        </p:nvSpPr>
        <p:spPr>
          <a:xfrm>
            <a:off x="3261207" y="1508760"/>
            <a:ext cx="2743200" cy="502920"/>
          </a:xfrm>
          <a:prstGeom prst="round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游ゴシック"/>
              </a:defRPr>
            </a:pPr>
            <a:r>
              <a:t>Phase 2 (2028-2030)</a:t>
            </a:r>
          </a:p>
        </p:txBody>
      </p:sp>
      <p:sp>
        <p:nvSpPr>
          <p:cNvPr id="17" name="TextBox 16"/>
          <p:cNvSpPr txBox="1"/>
          <p:nvPr/>
        </p:nvSpPr>
        <p:spPr>
          <a:xfrm>
            <a:off x="3261207" y="2057400"/>
            <a:ext cx="2743200" cy="274320"/>
          </a:xfrm>
          <a:prstGeom prst="rect">
            <a:avLst/>
          </a:prstGeom>
          <a:noFill/>
        </p:spPr>
        <p:txBody>
          <a:bodyPr wrap="square">
            <a:spAutoFit/>
          </a:bodyPr>
          <a:lstStyle/>
          <a:p>
            <a:pPr algn="ctr">
              <a:defRPr sz="1100" b="1">
                <a:solidFill>
                  <a:srgbClr val="009966"/>
                </a:solidFill>
                <a:latin typeface="游ゴシック"/>
              </a:defRPr>
            </a:pPr>
            <a:r>
              <a:t>ドメイン特化AI支援による組織展開</a:t>
            </a:r>
          </a:p>
        </p:txBody>
      </p:sp>
      <p:sp>
        <p:nvSpPr>
          <p:cNvPr id="18" name="Rectangle 17"/>
          <p:cNvSpPr/>
          <p:nvPr/>
        </p:nvSpPr>
        <p:spPr>
          <a:xfrm>
            <a:off x="6095847" y="1508760"/>
            <a:ext cx="18288" cy="4389120"/>
          </a:xfrm>
          <a:prstGeom prst="rect">
            <a:avLst/>
          </a:prstGeom>
          <a:solidFill>
            <a:srgbClr val="CC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52647" y="2423160"/>
            <a:ext cx="2560320" cy="228600"/>
          </a:xfrm>
          <a:prstGeom prst="rect">
            <a:avLst/>
          </a:prstGeom>
          <a:noFill/>
        </p:spPr>
        <p:txBody>
          <a:bodyPr wrap="square">
            <a:spAutoFit/>
          </a:bodyPr>
          <a:lstStyle/>
          <a:p>
            <a:pPr algn="l">
              <a:defRPr sz="1100" b="1">
                <a:solidFill>
                  <a:srgbClr val="009966"/>
                </a:solidFill>
                <a:latin typeface="游ゴシック"/>
              </a:defRPr>
            </a:pPr>
            <a:r>
              <a:t>可能</a:t>
            </a:r>
          </a:p>
        </p:txBody>
      </p:sp>
      <p:sp>
        <p:nvSpPr>
          <p:cNvPr id="20" name="TextBox 19"/>
          <p:cNvSpPr txBox="1"/>
          <p:nvPr/>
        </p:nvSpPr>
        <p:spPr>
          <a:xfrm>
            <a:off x="3398367" y="2679192"/>
            <a:ext cx="2468880" cy="201168"/>
          </a:xfrm>
          <a:prstGeom prst="rect">
            <a:avLst/>
          </a:prstGeom>
          <a:noFill/>
        </p:spPr>
        <p:txBody>
          <a:bodyPr wrap="square">
            <a:spAutoFit/>
          </a:bodyPr>
          <a:lstStyle/>
          <a:p>
            <a:pPr algn="l">
              <a:defRPr sz="900" b="0">
                <a:solidFill>
                  <a:srgbClr val="333333"/>
                </a:solidFill>
                <a:latin typeface="游ゴシック"/>
              </a:defRPr>
            </a:pPr>
            <a:r>
              <a:t>- システム要件分析が跳躍、AI支援が一般化</a:t>
            </a:r>
          </a:p>
        </p:txBody>
      </p:sp>
      <p:sp>
        <p:nvSpPr>
          <p:cNvPr id="21" name="TextBox 20"/>
          <p:cNvSpPr txBox="1"/>
          <p:nvPr/>
        </p:nvSpPr>
        <p:spPr>
          <a:xfrm>
            <a:off x="3398367" y="2880360"/>
            <a:ext cx="2468880" cy="201168"/>
          </a:xfrm>
          <a:prstGeom prst="rect">
            <a:avLst/>
          </a:prstGeom>
          <a:noFill/>
        </p:spPr>
        <p:txBody>
          <a:bodyPr wrap="square">
            <a:spAutoFit/>
          </a:bodyPr>
          <a:lstStyle/>
          <a:p>
            <a:pPr algn="l">
              <a:defRPr sz="900" b="0">
                <a:solidFill>
                  <a:srgbClr val="333333"/>
                </a:solidFill>
                <a:latin typeface="游ゴシック"/>
              </a:defRPr>
            </a:pPr>
            <a:r>
              <a:t>- マルチエージェントによるVプロセス半自動化</a:t>
            </a:r>
          </a:p>
        </p:txBody>
      </p:sp>
      <p:sp>
        <p:nvSpPr>
          <p:cNvPr id="22" name="TextBox 21"/>
          <p:cNvSpPr txBox="1"/>
          <p:nvPr/>
        </p:nvSpPr>
        <p:spPr>
          <a:xfrm>
            <a:off x="3352647" y="3172968"/>
            <a:ext cx="2560320" cy="228600"/>
          </a:xfrm>
          <a:prstGeom prst="rect">
            <a:avLst/>
          </a:prstGeom>
          <a:noFill/>
        </p:spPr>
        <p:txBody>
          <a:bodyPr wrap="square">
            <a:spAutoFit/>
          </a:bodyPr>
          <a:lstStyle/>
          <a:p>
            <a:pPr algn="l">
              <a:defRPr sz="1100" b="1">
                <a:solidFill>
                  <a:srgbClr val="009966"/>
                </a:solidFill>
                <a:latin typeface="游ゴシック"/>
              </a:defRPr>
            </a:pPr>
            <a:r>
              <a:t>限界</a:t>
            </a:r>
          </a:p>
        </p:txBody>
      </p:sp>
      <p:sp>
        <p:nvSpPr>
          <p:cNvPr id="23" name="TextBox 22"/>
          <p:cNvSpPr txBox="1"/>
          <p:nvPr/>
        </p:nvSpPr>
        <p:spPr>
          <a:xfrm>
            <a:off x="3398367" y="3429000"/>
            <a:ext cx="2468880" cy="201168"/>
          </a:xfrm>
          <a:prstGeom prst="rect">
            <a:avLst/>
          </a:prstGeom>
          <a:noFill/>
        </p:spPr>
        <p:txBody>
          <a:bodyPr wrap="square">
            <a:spAutoFit/>
          </a:bodyPr>
          <a:lstStyle/>
          <a:p>
            <a:pPr algn="l">
              <a:defRPr sz="900" b="0">
                <a:solidFill>
                  <a:srgbClr val="333333"/>
                </a:solidFill>
                <a:latin typeface="游ゴシック"/>
              </a:defRPr>
            </a:pPr>
            <a:r>
              <a:t>- 安全機能は情緒的受容の壁</a:t>
            </a:r>
          </a:p>
        </p:txBody>
      </p:sp>
      <p:sp>
        <p:nvSpPr>
          <p:cNvPr id="24" name="TextBox 23"/>
          <p:cNvSpPr txBox="1"/>
          <p:nvPr/>
        </p:nvSpPr>
        <p:spPr>
          <a:xfrm>
            <a:off x="3398367" y="3630168"/>
            <a:ext cx="2468880" cy="201168"/>
          </a:xfrm>
          <a:prstGeom prst="rect">
            <a:avLst/>
          </a:prstGeom>
          <a:noFill/>
        </p:spPr>
        <p:txBody>
          <a:bodyPr wrap="square">
            <a:spAutoFit/>
          </a:bodyPr>
          <a:lstStyle/>
          <a:p>
            <a:pPr algn="l">
              <a:defRPr sz="900" b="0">
                <a:solidFill>
                  <a:srgbClr val="333333"/>
                </a:solidFill>
                <a:latin typeface="游ゴシック"/>
              </a:defRPr>
            </a:pPr>
            <a:r>
              <a:t>- 認証機関のAI成果物受入基準が発展途上</a:t>
            </a:r>
          </a:p>
        </p:txBody>
      </p:sp>
      <p:sp>
        <p:nvSpPr>
          <p:cNvPr id="25" name="TextBox 24"/>
          <p:cNvSpPr txBox="1"/>
          <p:nvPr/>
        </p:nvSpPr>
        <p:spPr>
          <a:xfrm>
            <a:off x="3398367" y="3831336"/>
            <a:ext cx="2468880" cy="201168"/>
          </a:xfrm>
          <a:prstGeom prst="rect">
            <a:avLst/>
          </a:prstGeom>
          <a:noFill/>
        </p:spPr>
        <p:txBody>
          <a:bodyPr wrap="square">
            <a:spAutoFit/>
          </a:bodyPr>
          <a:lstStyle/>
          <a:p>
            <a:pPr algn="l">
              <a:defRPr sz="900" b="0">
                <a:solidFill>
                  <a:srgbClr val="333333"/>
                </a:solidFill>
                <a:latin typeface="游ゴシック"/>
              </a:defRPr>
            </a:pPr>
            <a:r>
              <a:t>- サプライチェーン全体のAI成熟度格差</a:t>
            </a:r>
          </a:p>
        </p:txBody>
      </p:sp>
      <p:sp>
        <p:nvSpPr>
          <p:cNvPr id="26" name="Rounded Rectangle 25"/>
          <p:cNvSpPr/>
          <p:nvPr/>
        </p:nvSpPr>
        <p:spPr>
          <a:xfrm>
            <a:off x="6187287" y="1508760"/>
            <a:ext cx="2743200" cy="502920"/>
          </a:xfrm>
          <a:prstGeom prst="roundRect">
            <a:avLst/>
          </a:prstGeom>
          <a:solidFill>
            <a:srgbClr val="0066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游ゴシック"/>
              </a:defRPr>
            </a:pPr>
            <a:r>
              <a:t>Phase 3 (2031-2035)</a:t>
            </a:r>
          </a:p>
        </p:txBody>
      </p:sp>
      <p:sp>
        <p:nvSpPr>
          <p:cNvPr id="27" name="TextBox 26"/>
          <p:cNvSpPr txBox="1"/>
          <p:nvPr/>
        </p:nvSpPr>
        <p:spPr>
          <a:xfrm>
            <a:off x="6187287" y="2057400"/>
            <a:ext cx="2743200" cy="274320"/>
          </a:xfrm>
          <a:prstGeom prst="rect">
            <a:avLst/>
          </a:prstGeom>
          <a:noFill/>
        </p:spPr>
        <p:txBody>
          <a:bodyPr wrap="square">
            <a:spAutoFit/>
          </a:bodyPr>
          <a:lstStyle/>
          <a:p>
            <a:pPr algn="ctr">
              <a:defRPr sz="1100" b="1">
                <a:solidFill>
                  <a:srgbClr val="006644"/>
                </a:solidFill>
                <a:latin typeface="游ゴシック"/>
              </a:defRPr>
            </a:pPr>
            <a:r>
              <a:t>AI駆動型設計の全社標準化</a:t>
            </a:r>
          </a:p>
        </p:txBody>
      </p:sp>
      <p:sp>
        <p:nvSpPr>
          <p:cNvPr id="28" name="Rectangle 27"/>
          <p:cNvSpPr/>
          <p:nvPr/>
        </p:nvSpPr>
        <p:spPr>
          <a:xfrm>
            <a:off x="9021927" y="1508760"/>
            <a:ext cx="18288" cy="4389120"/>
          </a:xfrm>
          <a:prstGeom prst="rect">
            <a:avLst/>
          </a:prstGeom>
          <a:solidFill>
            <a:srgbClr val="CC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78727" y="2423160"/>
            <a:ext cx="2560320" cy="228600"/>
          </a:xfrm>
          <a:prstGeom prst="rect">
            <a:avLst/>
          </a:prstGeom>
          <a:noFill/>
        </p:spPr>
        <p:txBody>
          <a:bodyPr wrap="square">
            <a:spAutoFit/>
          </a:bodyPr>
          <a:lstStyle/>
          <a:p>
            <a:pPr algn="l">
              <a:defRPr sz="1100" b="1">
                <a:solidFill>
                  <a:srgbClr val="006644"/>
                </a:solidFill>
                <a:latin typeface="游ゴシック"/>
              </a:defRPr>
            </a:pPr>
            <a:r>
              <a:t>可能</a:t>
            </a:r>
          </a:p>
        </p:txBody>
      </p:sp>
      <p:sp>
        <p:nvSpPr>
          <p:cNvPr id="30" name="TextBox 29"/>
          <p:cNvSpPr txBox="1"/>
          <p:nvPr/>
        </p:nvSpPr>
        <p:spPr>
          <a:xfrm>
            <a:off x="6324447" y="2679192"/>
            <a:ext cx="2468880" cy="201168"/>
          </a:xfrm>
          <a:prstGeom prst="rect">
            <a:avLst/>
          </a:prstGeom>
          <a:noFill/>
        </p:spPr>
        <p:txBody>
          <a:bodyPr wrap="square">
            <a:spAutoFit/>
          </a:bodyPr>
          <a:lstStyle/>
          <a:p>
            <a:pPr algn="l">
              <a:defRPr sz="900" b="0">
                <a:solidFill>
                  <a:srgbClr val="333333"/>
                </a:solidFill>
                <a:latin typeface="游ゴシック"/>
              </a:defRPr>
            </a:pPr>
            <a:r>
              <a:t>- 安全機能のAI支援設計</a:t>
            </a:r>
          </a:p>
        </p:txBody>
      </p:sp>
      <p:sp>
        <p:nvSpPr>
          <p:cNvPr id="31" name="TextBox 30"/>
          <p:cNvSpPr txBox="1"/>
          <p:nvPr/>
        </p:nvSpPr>
        <p:spPr>
          <a:xfrm>
            <a:off x="6324447" y="2880360"/>
            <a:ext cx="2468880" cy="201168"/>
          </a:xfrm>
          <a:prstGeom prst="rect">
            <a:avLst/>
          </a:prstGeom>
          <a:noFill/>
        </p:spPr>
        <p:txBody>
          <a:bodyPr wrap="square">
            <a:spAutoFit/>
          </a:bodyPr>
          <a:lstStyle/>
          <a:p>
            <a:pPr algn="l">
              <a:defRPr sz="900" b="0">
                <a:solidFill>
                  <a:srgbClr val="333333"/>
                </a:solidFill>
                <a:latin typeface="游ゴシック"/>
              </a:defRPr>
            </a:pPr>
            <a:r>
              <a:t>- Formal Verification×AIで証明支援</a:t>
            </a:r>
          </a:p>
        </p:txBody>
      </p:sp>
      <p:sp>
        <p:nvSpPr>
          <p:cNvPr id="32" name="TextBox 31"/>
          <p:cNvSpPr txBox="1"/>
          <p:nvPr/>
        </p:nvSpPr>
        <p:spPr>
          <a:xfrm>
            <a:off x="6324447" y="3081528"/>
            <a:ext cx="2468880" cy="201168"/>
          </a:xfrm>
          <a:prstGeom prst="rect">
            <a:avLst/>
          </a:prstGeom>
          <a:noFill/>
        </p:spPr>
        <p:txBody>
          <a:bodyPr wrap="square">
            <a:spAutoFit/>
          </a:bodyPr>
          <a:lstStyle/>
          <a:p>
            <a:pPr algn="l">
              <a:defRPr sz="900" b="0">
                <a:solidFill>
                  <a:srgbClr val="333333"/>
                </a:solidFill>
                <a:latin typeface="游ゴシック"/>
              </a:defRPr>
            </a:pPr>
            <a:r>
              <a:t>- AI設計の法的フレームワークが国際標準化</a:t>
            </a:r>
          </a:p>
        </p:txBody>
      </p:sp>
      <p:sp>
        <p:nvSpPr>
          <p:cNvPr id="33" name="TextBox 32"/>
          <p:cNvSpPr txBox="1"/>
          <p:nvPr/>
        </p:nvSpPr>
        <p:spPr>
          <a:xfrm>
            <a:off x="6278727" y="3374136"/>
            <a:ext cx="2560320" cy="228600"/>
          </a:xfrm>
          <a:prstGeom prst="rect">
            <a:avLst/>
          </a:prstGeom>
          <a:noFill/>
        </p:spPr>
        <p:txBody>
          <a:bodyPr wrap="square">
            <a:spAutoFit/>
          </a:bodyPr>
          <a:lstStyle/>
          <a:p>
            <a:pPr algn="l">
              <a:defRPr sz="1100" b="1">
                <a:solidFill>
                  <a:srgbClr val="006644"/>
                </a:solidFill>
                <a:latin typeface="游ゴシック"/>
              </a:defRPr>
            </a:pPr>
            <a:r>
              <a:t>限界</a:t>
            </a:r>
          </a:p>
        </p:txBody>
      </p:sp>
      <p:sp>
        <p:nvSpPr>
          <p:cNvPr id="34" name="TextBox 33"/>
          <p:cNvSpPr txBox="1"/>
          <p:nvPr/>
        </p:nvSpPr>
        <p:spPr>
          <a:xfrm>
            <a:off x="6324447" y="3630168"/>
            <a:ext cx="2468880" cy="201168"/>
          </a:xfrm>
          <a:prstGeom prst="rect">
            <a:avLst/>
          </a:prstGeom>
          <a:noFill/>
        </p:spPr>
        <p:txBody>
          <a:bodyPr wrap="square">
            <a:spAutoFit/>
          </a:bodyPr>
          <a:lstStyle/>
          <a:p>
            <a:pPr algn="l">
              <a:defRPr sz="900" b="0">
                <a:solidFill>
                  <a:srgbClr val="333333"/>
                </a:solidFill>
                <a:latin typeface="游ゴシック"/>
              </a:defRPr>
            </a:pPr>
            <a:r>
              <a:t>- Human-on-the-Loopが主流（完全自律は不可）</a:t>
            </a:r>
          </a:p>
        </p:txBody>
      </p:sp>
      <p:sp>
        <p:nvSpPr>
          <p:cNvPr id="35" name="TextBox 34"/>
          <p:cNvSpPr txBox="1"/>
          <p:nvPr/>
        </p:nvSpPr>
        <p:spPr>
          <a:xfrm>
            <a:off x="6324447" y="3831336"/>
            <a:ext cx="2468880" cy="201168"/>
          </a:xfrm>
          <a:prstGeom prst="rect">
            <a:avLst/>
          </a:prstGeom>
          <a:noFill/>
        </p:spPr>
        <p:txBody>
          <a:bodyPr wrap="square">
            <a:spAutoFit/>
          </a:bodyPr>
          <a:lstStyle/>
          <a:p>
            <a:pPr algn="l">
              <a:defRPr sz="900" b="0">
                <a:solidFill>
                  <a:srgbClr val="333333"/>
                </a:solidFill>
                <a:latin typeface="游ゴシック"/>
              </a:defRPr>
            </a:pPr>
            <a:r>
              <a:t>- 最終安全判断・倫理判断は人間必須</a:t>
            </a:r>
          </a:p>
        </p:txBody>
      </p:sp>
      <p:sp>
        <p:nvSpPr>
          <p:cNvPr id="36" name="Rounded Rectangle 35"/>
          <p:cNvSpPr/>
          <p:nvPr/>
        </p:nvSpPr>
        <p:spPr>
          <a:xfrm>
            <a:off x="9113367" y="1508760"/>
            <a:ext cx="2743200" cy="50292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游ゴシック"/>
              </a:defRPr>
            </a:pPr>
            <a:r>
              <a:t>Phase 4 (2035-)</a:t>
            </a:r>
          </a:p>
        </p:txBody>
      </p:sp>
      <p:sp>
        <p:nvSpPr>
          <p:cNvPr id="37" name="TextBox 36"/>
          <p:cNvSpPr txBox="1"/>
          <p:nvPr/>
        </p:nvSpPr>
        <p:spPr>
          <a:xfrm>
            <a:off x="9113367" y="2057400"/>
            <a:ext cx="2743200" cy="274320"/>
          </a:xfrm>
          <a:prstGeom prst="rect">
            <a:avLst/>
          </a:prstGeom>
          <a:noFill/>
        </p:spPr>
        <p:txBody>
          <a:bodyPr wrap="square">
            <a:spAutoFit/>
          </a:bodyPr>
          <a:lstStyle/>
          <a:p>
            <a:pPr algn="ctr">
              <a:defRPr sz="1100" b="1">
                <a:solidFill>
                  <a:srgbClr val="FF9900"/>
                </a:solidFill>
                <a:latin typeface="游ゴシック"/>
              </a:defRPr>
            </a:pPr>
            <a:r>
              <a:t>自律型AI設計・産業変革期</a:t>
            </a:r>
          </a:p>
        </p:txBody>
      </p:sp>
      <p:sp>
        <p:nvSpPr>
          <p:cNvPr id="38" name="TextBox 37"/>
          <p:cNvSpPr txBox="1"/>
          <p:nvPr/>
        </p:nvSpPr>
        <p:spPr>
          <a:xfrm>
            <a:off x="9204807" y="2423160"/>
            <a:ext cx="2560320" cy="228600"/>
          </a:xfrm>
          <a:prstGeom prst="rect">
            <a:avLst/>
          </a:prstGeom>
          <a:noFill/>
        </p:spPr>
        <p:txBody>
          <a:bodyPr wrap="square">
            <a:spAutoFit/>
          </a:bodyPr>
          <a:lstStyle/>
          <a:p>
            <a:pPr algn="l">
              <a:defRPr sz="1100" b="1">
                <a:solidFill>
                  <a:srgbClr val="FF9900"/>
                </a:solidFill>
                <a:latin typeface="游ゴシック"/>
              </a:defRPr>
            </a:pPr>
            <a:r>
              <a:t>可能</a:t>
            </a:r>
          </a:p>
        </p:txBody>
      </p:sp>
      <p:sp>
        <p:nvSpPr>
          <p:cNvPr id="39" name="TextBox 38"/>
          <p:cNvSpPr txBox="1"/>
          <p:nvPr/>
        </p:nvSpPr>
        <p:spPr>
          <a:xfrm>
            <a:off x="9250527" y="2679192"/>
            <a:ext cx="2468880" cy="201168"/>
          </a:xfrm>
          <a:prstGeom prst="rect">
            <a:avLst/>
          </a:prstGeom>
          <a:noFill/>
        </p:spPr>
        <p:txBody>
          <a:bodyPr wrap="square">
            <a:spAutoFit/>
          </a:bodyPr>
          <a:lstStyle/>
          <a:p>
            <a:pPr algn="l">
              <a:defRPr sz="900" b="0">
                <a:solidFill>
                  <a:srgbClr val="333333"/>
                </a:solidFill>
                <a:latin typeface="游ゴシック"/>
              </a:defRPr>
            </a:pPr>
            <a:r>
              <a:t>- AIが設計主体、人間が監督者</a:t>
            </a:r>
          </a:p>
        </p:txBody>
      </p:sp>
      <p:sp>
        <p:nvSpPr>
          <p:cNvPr id="40" name="TextBox 39"/>
          <p:cNvSpPr txBox="1"/>
          <p:nvPr/>
        </p:nvSpPr>
        <p:spPr>
          <a:xfrm>
            <a:off x="9250527" y="2880360"/>
            <a:ext cx="2468880" cy="201168"/>
          </a:xfrm>
          <a:prstGeom prst="rect">
            <a:avLst/>
          </a:prstGeom>
          <a:noFill/>
        </p:spPr>
        <p:txBody>
          <a:bodyPr wrap="square">
            <a:spAutoFit/>
          </a:bodyPr>
          <a:lstStyle/>
          <a:p>
            <a:pPr algn="l">
              <a:defRPr sz="900" b="0">
                <a:solidFill>
                  <a:srgbClr val="333333"/>
                </a:solidFill>
                <a:latin typeface="游ゴシック"/>
              </a:defRPr>
            </a:pPr>
            <a:r>
              <a:t>- 量子コンピューティング連携の形式検証高速化</a:t>
            </a:r>
          </a:p>
        </p:txBody>
      </p:sp>
      <p:sp>
        <p:nvSpPr>
          <p:cNvPr id="41" name="TextBox 40"/>
          <p:cNvSpPr txBox="1"/>
          <p:nvPr/>
        </p:nvSpPr>
        <p:spPr>
          <a:xfrm>
            <a:off x="9250527" y="3081528"/>
            <a:ext cx="2468880" cy="201168"/>
          </a:xfrm>
          <a:prstGeom prst="rect">
            <a:avLst/>
          </a:prstGeom>
          <a:noFill/>
        </p:spPr>
        <p:txBody>
          <a:bodyPr wrap="square">
            <a:spAutoFit/>
          </a:bodyPr>
          <a:lstStyle/>
          <a:p>
            <a:pPr algn="l">
              <a:defRPr sz="900" b="0">
                <a:solidFill>
                  <a:srgbClr val="333333"/>
                </a:solidFill>
                <a:latin typeface="游ゴシック"/>
              </a:defRPr>
            </a:pPr>
            <a:r>
              <a:t>- 業界全体の開発生産性が桁違いに向上</a:t>
            </a:r>
          </a:p>
        </p:txBody>
      </p:sp>
      <p:sp>
        <p:nvSpPr>
          <p:cNvPr id="42" name="TextBox 41"/>
          <p:cNvSpPr txBox="1"/>
          <p:nvPr/>
        </p:nvSpPr>
        <p:spPr>
          <a:xfrm>
            <a:off x="9204807" y="3374136"/>
            <a:ext cx="2560320" cy="228600"/>
          </a:xfrm>
          <a:prstGeom prst="rect">
            <a:avLst/>
          </a:prstGeom>
          <a:noFill/>
        </p:spPr>
        <p:txBody>
          <a:bodyPr wrap="square">
            <a:spAutoFit/>
          </a:bodyPr>
          <a:lstStyle/>
          <a:p>
            <a:pPr algn="l">
              <a:defRPr sz="1100" b="1">
                <a:solidFill>
                  <a:srgbClr val="FF9900"/>
                </a:solidFill>
                <a:latin typeface="游ゴシック"/>
              </a:defRPr>
            </a:pPr>
            <a:r>
              <a:t>残存課題</a:t>
            </a:r>
          </a:p>
        </p:txBody>
      </p:sp>
      <p:sp>
        <p:nvSpPr>
          <p:cNvPr id="43" name="TextBox 42"/>
          <p:cNvSpPr txBox="1"/>
          <p:nvPr/>
        </p:nvSpPr>
        <p:spPr>
          <a:xfrm>
            <a:off x="9250527" y="3630168"/>
            <a:ext cx="2468880" cy="201168"/>
          </a:xfrm>
          <a:prstGeom prst="rect">
            <a:avLst/>
          </a:prstGeom>
          <a:noFill/>
        </p:spPr>
        <p:txBody>
          <a:bodyPr wrap="square">
            <a:spAutoFit/>
          </a:bodyPr>
          <a:lstStyle/>
          <a:p>
            <a:pPr algn="l">
              <a:defRPr sz="900" b="0">
                <a:solidFill>
                  <a:srgbClr val="333333"/>
                </a:solidFill>
                <a:latin typeface="游ゴシック"/>
              </a:defRPr>
            </a:pPr>
            <a:r>
              <a:t>- 安全クリティカルでは人間最終承認残存</a:t>
            </a:r>
          </a:p>
        </p:txBody>
      </p:sp>
      <p:sp>
        <p:nvSpPr>
          <p:cNvPr id="44" name="TextBox 43"/>
          <p:cNvSpPr txBox="1"/>
          <p:nvPr/>
        </p:nvSpPr>
        <p:spPr>
          <a:xfrm>
            <a:off x="9250527" y="3831336"/>
            <a:ext cx="2468880" cy="201168"/>
          </a:xfrm>
          <a:prstGeom prst="rect">
            <a:avLst/>
          </a:prstGeom>
          <a:noFill/>
        </p:spPr>
        <p:txBody>
          <a:bodyPr wrap="square">
            <a:spAutoFit/>
          </a:bodyPr>
          <a:lstStyle/>
          <a:p>
            <a:pPr algn="l">
              <a:defRPr sz="900" b="0">
                <a:solidFill>
                  <a:srgbClr val="333333"/>
                </a:solidFill>
                <a:latin typeface="游ゴシック"/>
              </a:defRPr>
            </a:pPr>
            <a:r>
              <a:t>- AI起因重大事故時の社会的後退リスク</a:t>
            </a:r>
          </a:p>
        </p:txBody>
      </p:sp>
      <p:sp>
        <p:nvSpPr>
          <p:cNvPr id="45" name="Right Arrow 44"/>
          <p:cNvSpPr/>
          <p:nvPr/>
        </p:nvSpPr>
        <p:spPr>
          <a:xfrm>
            <a:off x="335127" y="6126480"/>
            <a:ext cx="11521440" cy="22860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6583680"/>
            <a:ext cx="12191695" cy="27432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247120" y="6446520"/>
            <a:ext cx="914400" cy="365760"/>
          </a:xfrm>
          <a:prstGeom prst="rect">
            <a:avLst/>
          </a:prstGeom>
          <a:noFill/>
        </p:spPr>
        <p:txBody>
          <a:bodyPr wrap="square">
            <a:spAutoFit/>
          </a:bodyPr>
          <a:lstStyle/>
          <a:p>
            <a:pPr algn="r">
              <a:defRPr sz="1000" b="0">
                <a:solidFill>
                  <a:srgbClr val="009966"/>
                </a:solidFill>
                <a:latin typeface="游ゴシック"/>
              </a:defRPr>
            </a:pPr>
            <a: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游ゴシック"/>
              </a:defRPr>
            </a:pPr>
            <a:r>
              <a:t>組織施策ロードマップ</a:t>
            </a:r>
          </a:p>
        </p:txBody>
      </p:sp>
      <p:sp>
        <p:nvSpPr>
          <p:cNvPr id="4" name="Rounded Rectangle 3"/>
          <p:cNvSpPr/>
          <p:nvPr/>
        </p:nvSpPr>
        <p:spPr>
          <a:xfrm>
            <a:off x="1798167" y="1508760"/>
            <a:ext cx="2743200" cy="50292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游ゴシック"/>
              </a:defRPr>
            </a:pPr>
            <a:r>
              <a:t>Phase 1 (2026-2027)</a:t>
            </a:r>
          </a:p>
        </p:txBody>
      </p:sp>
      <p:sp>
        <p:nvSpPr>
          <p:cNvPr id="5" name="TextBox 4"/>
          <p:cNvSpPr txBox="1"/>
          <p:nvPr/>
        </p:nvSpPr>
        <p:spPr>
          <a:xfrm>
            <a:off x="1798167" y="2057400"/>
            <a:ext cx="2743200" cy="274320"/>
          </a:xfrm>
          <a:prstGeom prst="rect">
            <a:avLst/>
          </a:prstGeom>
          <a:noFill/>
        </p:spPr>
        <p:txBody>
          <a:bodyPr wrap="square">
            <a:spAutoFit/>
          </a:bodyPr>
          <a:lstStyle/>
          <a:p>
            <a:pPr algn="ctr">
              <a:defRPr sz="1100" b="1">
                <a:solidFill>
                  <a:srgbClr val="0066CC"/>
                </a:solidFill>
                <a:latin typeface="游ゴシック"/>
              </a:defRPr>
            </a:pPr>
            <a:r>
              <a:t>ドメインスキル整備とAIガバナンス基盤構築</a:t>
            </a:r>
          </a:p>
        </p:txBody>
      </p:sp>
      <p:sp>
        <p:nvSpPr>
          <p:cNvPr id="6" name="Rectangle 5"/>
          <p:cNvSpPr/>
          <p:nvPr/>
        </p:nvSpPr>
        <p:spPr>
          <a:xfrm>
            <a:off x="4632807" y="1508760"/>
            <a:ext cx="18288" cy="4389120"/>
          </a:xfrm>
          <a:prstGeom prst="rect">
            <a:avLst/>
          </a:prstGeom>
          <a:solidFill>
            <a:srgbClr val="CC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89607" y="2423160"/>
            <a:ext cx="2560320" cy="228600"/>
          </a:xfrm>
          <a:prstGeom prst="rect">
            <a:avLst/>
          </a:prstGeom>
          <a:noFill/>
        </p:spPr>
        <p:txBody>
          <a:bodyPr wrap="square">
            <a:spAutoFit/>
          </a:bodyPr>
          <a:lstStyle/>
          <a:p>
            <a:pPr algn="l">
              <a:defRPr sz="1100" b="1">
                <a:solidFill>
                  <a:srgbClr val="0066CC"/>
                </a:solidFill>
                <a:latin typeface="游ゴシック"/>
              </a:defRPr>
            </a:pPr>
            <a:r>
              <a:t>最優先施策</a:t>
            </a:r>
          </a:p>
        </p:txBody>
      </p:sp>
      <p:sp>
        <p:nvSpPr>
          <p:cNvPr id="8" name="TextBox 7"/>
          <p:cNvSpPr txBox="1"/>
          <p:nvPr/>
        </p:nvSpPr>
        <p:spPr>
          <a:xfrm>
            <a:off x="1935327" y="2679192"/>
            <a:ext cx="2468880" cy="201168"/>
          </a:xfrm>
          <a:prstGeom prst="rect">
            <a:avLst/>
          </a:prstGeom>
          <a:noFill/>
        </p:spPr>
        <p:txBody>
          <a:bodyPr wrap="square">
            <a:spAutoFit/>
          </a:bodyPr>
          <a:lstStyle/>
          <a:p>
            <a:pPr algn="l">
              <a:defRPr sz="900" b="0">
                <a:solidFill>
                  <a:srgbClr val="333333"/>
                </a:solidFill>
                <a:latin typeface="游ゴシック"/>
              </a:defRPr>
            </a:pPr>
            <a:r>
              <a:t>- 全社AIガバナンスフレームワーク策定</a:t>
            </a:r>
          </a:p>
        </p:txBody>
      </p:sp>
      <p:sp>
        <p:nvSpPr>
          <p:cNvPr id="9" name="TextBox 8"/>
          <p:cNvSpPr txBox="1"/>
          <p:nvPr/>
        </p:nvSpPr>
        <p:spPr>
          <a:xfrm>
            <a:off x="1935327" y="2880360"/>
            <a:ext cx="2468880" cy="201168"/>
          </a:xfrm>
          <a:prstGeom prst="rect">
            <a:avLst/>
          </a:prstGeom>
          <a:noFill/>
        </p:spPr>
        <p:txBody>
          <a:bodyPr wrap="square">
            <a:spAutoFit/>
          </a:bodyPr>
          <a:lstStyle/>
          <a:p>
            <a:pPr algn="l">
              <a:defRPr sz="900" b="0">
                <a:solidFill>
                  <a:srgbClr val="333333"/>
                </a:solidFill>
                <a:latin typeface="游ゴシック"/>
              </a:defRPr>
            </a:pPr>
            <a:r>
              <a:t>- ドメインスキルの全社整備(6領域)</a:t>
            </a:r>
          </a:p>
        </p:txBody>
      </p:sp>
      <p:sp>
        <p:nvSpPr>
          <p:cNvPr id="10" name="TextBox 9"/>
          <p:cNvSpPr txBox="1"/>
          <p:nvPr/>
        </p:nvSpPr>
        <p:spPr>
          <a:xfrm>
            <a:off x="1935327" y="3081528"/>
            <a:ext cx="2468880" cy="201168"/>
          </a:xfrm>
          <a:prstGeom prst="rect">
            <a:avLst/>
          </a:prstGeom>
          <a:noFill/>
        </p:spPr>
        <p:txBody>
          <a:bodyPr wrap="square">
            <a:spAutoFit/>
          </a:bodyPr>
          <a:lstStyle/>
          <a:p>
            <a:pPr algn="l">
              <a:defRPr sz="900" b="0">
                <a:solidFill>
                  <a:srgbClr val="333333"/>
                </a:solidFill>
                <a:latin typeface="游ゴシック"/>
              </a:defRPr>
            </a:pPr>
            <a:r>
              <a:t>- 先行パイロットPJ 3-5件で定量ROI取得</a:t>
            </a:r>
          </a:p>
        </p:txBody>
      </p:sp>
      <p:sp>
        <p:nvSpPr>
          <p:cNvPr id="11" name="TextBox 10"/>
          <p:cNvSpPr txBox="1"/>
          <p:nvPr/>
        </p:nvSpPr>
        <p:spPr>
          <a:xfrm>
            <a:off x="1889607" y="3374136"/>
            <a:ext cx="2560320" cy="228600"/>
          </a:xfrm>
          <a:prstGeom prst="rect">
            <a:avLst/>
          </a:prstGeom>
          <a:noFill/>
        </p:spPr>
        <p:txBody>
          <a:bodyPr wrap="square">
            <a:spAutoFit/>
          </a:bodyPr>
          <a:lstStyle/>
          <a:p>
            <a:pPr algn="l">
              <a:defRPr sz="1100" b="1">
                <a:solidFill>
                  <a:srgbClr val="0066CC"/>
                </a:solidFill>
                <a:latin typeface="游ゴシック"/>
              </a:defRPr>
            </a:pPr>
            <a:r>
              <a:t>人材育成</a:t>
            </a:r>
          </a:p>
        </p:txBody>
      </p:sp>
      <p:sp>
        <p:nvSpPr>
          <p:cNvPr id="12" name="TextBox 11"/>
          <p:cNvSpPr txBox="1"/>
          <p:nvPr/>
        </p:nvSpPr>
        <p:spPr>
          <a:xfrm>
            <a:off x="1935327" y="3630168"/>
            <a:ext cx="2468880" cy="201168"/>
          </a:xfrm>
          <a:prstGeom prst="rect">
            <a:avLst/>
          </a:prstGeom>
          <a:noFill/>
        </p:spPr>
        <p:txBody>
          <a:bodyPr wrap="square">
            <a:spAutoFit/>
          </a:bodyPr>
          <a:lstStyle/>
          <a:p>
            <a:pPr algn="l">
              <a:defRPr sz="900" b="0">
                <a:solidFill>
                  <a:srgbClr val="333333"/>
                </a:solidFill>
                <a:latin typeface="游ゴシック"/>
              </a:defRPr>
            </a:pPr>
            <a:r>
              <a:t>- AIスキルマスター人材の育成開始</a:t>
            </a:r>
          </a:p>
        </p:txBody>
      </p:sp>
      <p:sp>
        <p:nvSpPr>
          <p:cNvPr id="13" name="TextBox 12"/>
          <p:cNvSpPr txBox="1"/>
          <p:nvPr/>
        </p:nvSpPr>
        <p:spPr>
          <a:xfrm>
            <a:off x="1935327" y="3831336"/>
            <a:ext cx="2468880" cy="201168"/>
          </a:xfrm>
          <a:prstGeom prst="rect">
            <a:avLst/>
          </a:prstGeom>
          <a:noFill/>
        </p:spPr>
        <p:txBody>
          <a:bodyPr wrap="square">
            <a:spAutoFit/>
          </a:bodyPr>
          <a:lstStyle/>
          <a:p>
            <a:pPr algn="l">
              <a:defRPr sz="900" b="0">
                <a:solidFill>
                  <a:srgbClr val="333333"/>
                </a:solidFill>
                <a:latin typeface="游ゴシック"/>
              </a:defRPr>
            </a:pPr>
            <a:r>
              <a:t>- NDA・機密性管理フレームワーク策定</a:t>
            </a:r>
          </a:p>
        </p:txBody>
      </p:sp>
      <p:sp>
        <p:nvSpPr>
          <p:cNvPr id="14" name="TextBox 13"/>
          <p:cNvSpPr txBox="1"/>
          <p:nvPr/>
        </p:nvSpPr>
        <p:spPr>
          <a:xfrm>
            <a:off x="1935327" y="4032504"/>
            <a:ext cx="2468880" cy="201168"/>
          </a:xfrm>
          <a:prstGeom prst="rect">
            <a:avLst/>
          </a:prstGeom>
          <a:noFill/>
        </p:spPr>
        <p:txBody>
          <a:bodyPr wrap="square">
            <a:spAutoFit/>
          </a:bodyPr>
          <a:lstStyle/>
          <a:p>
            <a:pPr algn="l">
              <a:defRPr sz="900" b="0">
                <a:solidFill>
                  <a:srgbClr val="333333"/>
                </a:solidFill>
                <a:latin typeface="游ゴシック"/>
              </a:defRPr>
            </a:pPr>
            <a:r>
              <a:t>- 「ドメインスキルを書ける人材」の戦略的育成</a:t>
            </a:r>
          </a:p>
        </p:txBody>
      </p:sp>
      <p:sp>
        <p:nvSpPr>
          <p:cNvPr id="15" name="Rounded Rectangle 14"/>
          <p:cNvSpPr/>
          <p:nvPr/>
        </p:nvSpPr>
        <p:spPr>
          <a:xfrm>
            <a:off x="4724247" y="1508760"/>
            <a:ext cx="2743200" cy="502920"/>
          </a:xfrm>
          <a:prstGeom prst="round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游ゴシック"/>
              </a:defRPr>
            </a:pPr>
            <a:r>
              <a:t>Phase 2 (2028-2030)</a:t>
            </a:r>
          </a:p>
        </p:txBody>
      </p:sp>
      <p:sp>
        <p:nvSpPr>
          <p:cNvPr id="16" name="TextBox 15"/>
          <p:cNvSpPr txBox="1"/>
          <p:nvPr/>
        </p:nvSpPr>
        <p:spPr>
          <a:xfrm>
            <a:off x="4724247" y="2057400"/>
            <a:ext cx="2743200" cy="274320"/>
          </a:xfrm>
          <a:prstGeom prst="rect">
            <a:avLst/>
          </a:prstGeom>
          <a:noFill/>
        </p:spPr>
        <p:txBody>
          <a:bodyPr wrap="square">
            <a:spAutoFit/>
          </a:bodyPr>
          <a:lstStyle/>
          <a:p>
            <a:pPr algn="ctr">
              <a:defRPr sz="1100" b="1">
                <a:solidFill>
                  <a:srgbClr val="009966"/>
                </a:solidFill>
                <a:latin typeface="游ゴシック"/>
              </a:defRPr>
            </a:pPr>
            <a:r>
              <a:t>安全領域への段階展開・認証実績構築</a:t>
            </a:r>
          </a:p>
        </p:txBody>
      </p:sp>
      <p:sp>
        <p:nvSpPr>
          <p:cNvPr id="17" name="Rectangle 16"/>
          <p:cNvSpPr/>
          <p:nvPr/>
        </p:nvSpPr>
        <p:spPr>
          <a:xfrm>
            <a:off x="7558887" y="1508760"/>
            <a:ext cx="18288" cy="4389120"/>
          </a:xfrm>
          <a:prstGeom prst="rect">
            <a:avLst/>
          </a:prstGeom>
          <a:solidFill>
            <a:srgbClr val="CC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15687" y="2423160"/>
            <a:ext cx="2560320" cy="228600"/>
          </a:xfrm>
          <a:prstGeom prst="rect">
            <a:avLst/>
          </a:prstGeom>
          <a:noFill/>
        </p:spPr>
        <p:txBody>
          <a:bodyPr wrap="square">
            <a:spAutoFit/>
          </a:bodyPr>
          <a:lstStyle/>
          <a:p>
            <a:pPr algn="l">
              <a:defRPr sz="1100" b="1">
                <a:solidFill>
                  <a:srgbClr val="009966"/>
                </a:solidFill>
                <a:latin typeface="游ゴシック"/>
              </a:defRPr>
            </a:pPr>
            <a:r>
              <a:t>技術展開</a:t>
            </a:r>
          </a:p>
        </p:txBody>
      </p:sp>
      <p:sp>
        <p:nvSpPr>
          <p:cNvPr id="19" name="TextBox 18"/>
          <p:cNvSpPr txBox="1"/>
          <p:nvPr/>
        </p:nvSpPr>
        <p:spPr>
          <a:xfrm>
            <a:off x="4861407" y="2679192"/>
            <a:ext cx="2468880" cy="201168"/>
          </a:xfrm>
          <a:prstGeom prst="rect">
            <a:avLst/>
          </a:prstGeom>
          <a:noFill/>
        </p:spPr>
        <p:txBody>
          <a:bodyPr wrap="square">
            <a:spAutoFit/>
          </a:bodyPr>
          <a:lstStyle/>
          <a:p>
            <a:pPr algn="l">
              <a:defRPr sz="900" b="0">
                <a:solidFill>
                  <a:srgbClr val="333333"/>
                </a:solidFill>
                <a:latin typeface="游ゴシック"/>
              </a:defRPr>
            </a:pPr>
            <a:r>
              <a:t>- 安全領域への段階的AI適用</a:t>
            </a:r>
          </a:p>
        </p:txBody>
      </p:sp>
      <p:sp>
        <p:nvSpPr>
          <p:cNvPr id="20" name="TextBox 19"/>
          <p:cNvSpPr txBox="1"/>
          <p:nvPr/>
        </p:nvSpPr>
        <p:spPr>
          <a:xfrm>
            <a:off x="4861407" y="2880360"/>
            <a:ext cx="2468880" cy="201168"/>
          </a:xfrm>
          <a:prstGeom prst="rect">
            <a:avLst/>
          </a:prstGeom>
          <a:noFill/>
        </p:spPr>
        <p:txBody>
          <a:bodyPr wrap="square">
            <a:spAutoFit/>
          </a:bodyPr>
          <a:lstStyle/>
          <a:p>
            <a:pPr algn="l">
              <a:defRPr sz="900" b="0">
                <a:solidFill>
                  <a:srgbClr val="333333"/>
                </a:solidFill>
                <a:latin typeface="游ゴシック"/>
              </a:defRPr>
            </a:pPr>
            <a:r>
              <a:t>- 認証機関との対話・AI成果物受入実績構築</a:t>
            </a:r>
          </a:p>
        </p:txBody>
      </p:sp>
      <p:sp>
        <p:nvSpPr>
          <p:cNvPr id="21" name="TextBox 20"/>
          <p:cNvSpPr txBox="1"/>
          <p:nvPr/>
        </p:nvSpPr>
        <p:spPr>
          <a:xfrm>
            <a:off x="4861407" y="3081528"/>
            <a:ext cx="2468880" cy="201168"/>
          </a:xfrm>
          <a:prstGeom prst="rect">
            <a:avLst/>
          </a:prstGeom>
          <a:noFill/>
        </p:spPr>
        <p:txBody>
          <a:bodyPr wrap="square">
            <a:spAutoFit/>
          </a:bodyPr>
          <a:lstStyle/>
          <a:p>
            <a:pPr algn="l">
              <a:defRPr sz="900" b="0">
                <a:solidFill>
                  <a:srgbClr val="333333"/>
                </a:solidFill>
                <a:latin typeface="游ゴシック"/>
              </a:defRPr>
            </a:pPr>
            <a:r>
              <a:t>- マルチエージェントVプロセスの実用化</a:t>
            </a:r>
          </a:p>
        </p:txBody>
      </p:sp>
      <p:sp>
        <p:nvSpPr>
          <p:cNvPr id="22" name="TextBox 21"/>
          <p:cNvSpPr txBox="1"/>
          <p:nvPr/>
        </p:nvSpPr>
        <p:spPr>
          <a:xfrm>
            <a:off x="4815687" y="3374136"/>
            <a:ext cx="2560320" cy="228600"/>
          </a:xfrm>
          <a:prstGeom prst="rect">
            <a:avLst/>
          </a:prstGeom>
          <a:noFill/>
        </p:spPr>
        <p:txBody>
          <a:bodyPr wrap="square">
            <a:spAutoFit/>
          </a:bodyPr>
          <a:lstStyle/>
          <a:p>
            <a:pPr algn="l">
              <a:defRPr sz="1100" b="1">
                <a:solidFill>
                  <a:srgbClr val="009966"/>
                </a:solidFill>
                <a:latin typeface="游ゴシック"/>
              </a:defRPr>
            </a:pPr>
            <a:r>
              <a:t>組織・サプライチェーン</a:t>
            </a:r>
          </a:p>
        </p:txBody>
      </p:sp>
      <p:sp>
        <p:nvSpPr>
          <p:cNvPr id="23" name="TextBox 22"/>
          <p:cNvSpPr txBox="1"/>
          <p:nvPr/>
        </p:nvSpPr>
        <p:spPr>
          <a:xfrm>
            <a:off x="4861407" y="3630168"/>
            <a:ext cx="2468880" cy="201168"/>
          </a:xfrm>
          <a:prstGeom prst="rect">
            <a:avLst/>
          </a:prstGeom>
          <a:noFill/>
        </p:spPr>
        <p:txBody>
          <a:bodyPr wrap="square">
            <a:spAutoFit/>
          </a:bodyPr>
          <a:lstStyle/>
          <a:p>
            <a:pPr algn="l">
              <a:defRPr sz="900" b="0">
                <a:solidFill>
                  <a:srgbClr val="333333"/>
                </a:solidFill>
                <a:latin typeface="游ゴシック"/>
              </a:defRPr>
            </a:pPr>
            <a:r>
              <a:t>- サプライヤ向けAI活用要件の調達仕様化</a:t>
            </a:r>
          </a:p>
        </p:txBody>
      </p:sp>
      <p:sp>
        <p:nvSpPr>
          <p:cNvPr id="24" name="TextBox 23"/>
          <p:cNvSpPr txBox="1"/>
          <p:nvPr/>
        </p:nvSpPr>
        <p:spPr>
          <a:xfrm>
            <a:off x="4861407" y="3831336"/>
            <a:ext cx="2468880" cy="201168"/>
          </a:xfrm>
          <a:prstGeom prst="rect">
            <a:avLst/>
          </a:prstGeom>
          <a:noFill/>
        </p:spPr>
        <p:txBody>
          <a:bodyPr wrap="square">
            <a:spAutoFit/>
          </a:bodyPr>
          <a:lstStyle/>
          <a:p>
            <a:pPr algn="l">
              <a:defRPr sz="900" b="0">
                <a:solidFill>
                  <a:srgbClr val="333333"/>
                </a:solidFill>
                <a:latin typeface="游ゴシック"/>
              </a:defRPr>
            </a:pPr>
            <a:r>
              <a:t>- 全社横断のベストプラクティス展開</a:t>
            </a:r>
          </a:p>
        </p:txBody>
      </p:sp>
      <p:sp>
        <p:nvSpPr>
          <p:cNvPr id="25" name="Rounded Rectangle 24"/>
          <p:cNvSpPr/>
          <p:nvPr/>
        </p:nvSpPr>
        <p:spPr>
          <a:xfrm>
            <a:off x="7650327" y="1508760"/>
            <a:ext cx="2743200" cy="502920"/>
          </a:xfrm>
          <a:prstGeom prst="roundRect">
            <a:avLst/>
          </a:prstGeom>
          <a:solidFill>
            <a:srgbClr val="0066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游ゴシック"/>
              </a:defRPr>
            </a:pPr>
            <a:r>
              <a:t>Phase 3 (2031-2035)</a:t>
            </a:r>
          </a:p>
        </p:txBody>
      </p:sp>
      <p:sp>
        <p:nvSpPr>
          <p:cNvPr id="26" name="TextBox 25"/>
          <p:cNvSpPr txBox="1"/>
          <p:nvPr/>
        </p:nvSpPr>
        <p:spPr>
          <a:xfrm>
            <a:off x="7650327" y="2057400"/>
            <a:ext cx="2743200" cy="274320"/>
          </a:xfrm>
          <a:prstGeom prst="rect">
            <a:avLst/>
          </a:prstGeom>
          <a:noFill/>
        </p:spPr>
        <p:txBody>
          <a:bodyPr wrap="square">
            <a:spAutoFit/>
          </a:bodyPr>
          <a:lstStyle/>
          <a:p>
            <a:pPr algn="ctr">
              <a:defRPr sz="1100" b="1">
                <a:solidFill>
                  <a:srgbClr val="006644"/>
                </a:solidFill>
                <a:latin typeface="游ゴシック"/>
              </a:defRPr>
            </a:pPr>
            <a:r>
              <a:t>全製品ライン展開・サプライチェーンAI化</a:t>
            </a:r>
          </a:p>
        </p:txBody>
      </p:sp>
      <p:sp>
        <p:nvSpPr>
          <p:cNvPr id="27" name="TextBox 26"/>
          <p:cNvSpPr txBox="1"/>
          <p:nvPr/>
        </p:nvSpPr>
        <p:spPr>
          <a:xfrm>
            <a:off x="7741767" y="2423160"/>
            <a:ext cx="2560320" cy="228600"/>
          </a:xfrm>
          <a:prstGeom prst="rect">
            <a:avLst/>
          </a:prstGeom>
          <a:noFill/>
        </p:spPr>
        <p:txBody>
          <a:bodyPr wrap="square">
            <a:spAutoFit/>
          </a:bodyPr>
          <a:lstStyle/>
          <a:p>
            <a:pPr algn="l">
              <a:defRPr sz="1100" b="1">
                <a:solidFill>
                  <a:srgbClr val="006644"/>
                </a:solidFill>
                <a:latin typeface="游ゴシック"/>
              </a:defRPr>
            </a:pPr>
            <a:r>
              <a:t>全社展開</a:t>
            </a:r>
          </a:p>
        </p:txBody>
      </p:sp>
      <p:sp>
        <p:nvSpPr>
          <p:cNvPr id="28" name="TextBox 27"/>
          <p:cNvSpPr txBox="1"/>
          <p:nvPr/>
        </p:nvSpPr>
        <p:spPr>
          <a:xfrm>
            <a:off x="7787487" y="2679192"/>
            <a:ext cx="2468880" cy="201168"/>
          </a:xfrm>
          <a:prstGeom prst="rect">
            <a:avLst/>
          </a:prstGeom>
          <a:noFill/>
        </p:spPr>
        <p:txBody>
          <a:bodyPr wrap="square">
            <a:spAutoFit/>
          </a:bodyPr>
          <a:lstStyle/>
          <a:p>
            <a:pPr algn="l">
              <a:defRPr sz="900" b="0">
                <a:solidFill>
                  <a:srgbClr val="333333"/>
                </a:solidFill>
                <a:latin typeface="游ゴシック"/>
              </a:defRPr>
            </a:pPr>
            <a:r>
              <a:t>- 全製品ラインでのAI支援設計標準化</a:t>
            </a:r>
          </a:p>
        </p:txBody>
      </p:sp>
      <p:sp>
        <p:nvSpPr>
          <p:cNvPr id="29" name="TextBox 28"/>
          <p:cNvSpPr txBox="1"/>
          <p:nvPr/>
        </p:nvSpPr>
        <p:spPr>
          <a:xfrm>
            <a:off x="7787487" y="2880360"/>
            <a:ext cx="2468880" cy="201168"/>
          </a:xfrm>
          <a:prstGeom prst="rect">
            <a:avLst/>
          </a:prstGeom>
          <a:noFill/>
        </p:spPr>
        <p:txBody>
          <a:bodyPr wrap="square">
            <a:spAutoFit/>
          </a:bodyPr>
          <a:lstStyle/>
          <a:p>
            <a:pPr algn="l">
              <a:defRPr sz="900" b="0">
                <a:solidFill>
                  <a:srgbClr val="333333"/>
                </a:solidFill>
                <a:latin typeface="游ゴシック"/>
              </a:defRPr>
            </a:pPr>
            <a:r>
              <a:t>- サプライチェーン全体のAI化推進</a:t>
            </a:r>
          </a:p>
        </p:txBody>
      </p:sp>
      <p:sp>
        <p:nvSpPr>
          <p:cNvPr id="30" name="TextBox 29"/>
          <p:cNvSpPr txBox="1"/>
          <p:nvPr/>
        </p:nvSpPr>
        <p:spPr>
          <a:xfrm>
            <a:off x="7787487" y="3081528"/>
            <a:ext cx="2468880" cy="201168"/>
          </a:xfrm>
          <a:prstGeom prst="rect">
            <a:avLst/>
          </a:prstGeom>
          <a:noFill/>
        </p:spPr>
        <p:txBody>
          <a:bodyPr wrap="square">
            <a:spAutoFit/>
          </a:bodyPr>
          <a:lstStyle/>
          <a:p>
            <a:pPr algn="l">
              <a:defRPr sz="900" b="0">
                <a:solidFill>
                  <a:srgbClr val="333333"/>
                </a:solidFill>
                <a:latin typeface="游ゴシック"/>
              </a:defRPr>
            </a:pPr>
            <a:r>
              <a:t>- 次世代アーキテクチャの検討開始</a:t>
            </a:r>
          </a:p>
        </p:txBody>
      </p:sp>
      <p:sp>
        <p:nvSpPr>
          <p:cNvPr id="31" name="TextBox 30"/>
          <p:cNvSpPr txBox="1"/>
          <p:nvPr/>
        </p:nvSpPr>
        <p:spPr>
          <a:xfrm>
            <a:off x="7741767" y="3374136"/>
            <a:ext cx="2560320" cy="228600"/>
          </a:xfrm>
          <a:prstGeom prst="rect">
            <a:avLst/>
          </a:prstGeom>
          <a:noFill/>
        </p:spPr>
        <p:txBody>
          <a:bodyPr wrap="square">
            <a:spAutoFit/>
          </a:bodyPr>
          <a:lstStyle/>
          <a:p>
            <a:pPr algn="l">
              <a:defRPr sz="1100" b="1">
                <a:solidFill>
                  <a:srgbClr val="006644"/>
                </a:solidFill>
                <a:latin typeface="游ゴシック"/>
              </a:defRPr>
            </a:pPr>
            <a:r>
              <a:t>持続的競争力</a:t>
            </a:r>
          </a:p>
        </p:txBody>
      </p:sp>
      <p:sp>
        <p:nvSpPr>
          <p:cNvPr id="32" name="TextBox 31"/>
          <p:cNvSpPr txBox="1"/>
          <p:nvPr/>
        </p:nvSpPr>
        <p:spPr>
          <a:xfrm>
            <a:off x="7787487" y="3630168"/>
            <a:ext cx="2468880" cy="201168"/>
          </a:xfrm>
          <a:prstGeom prst="rect">
            <a:avLst/>
          </a:prstGeom>
          <a:noFill/>
        </p:spPr>
        <p:txBody>
          <a:bodyPr wrap="square">
            <a:spAutoFit/>
          </a:bodyPr>
          <a:lstStyle/>
          <a:p>
            <a:pPr algn="l">
              <a:defRPr sz="900" b="0">
                <a:solidFill>
                  <a:srgbClr val="333333"/>
                </a:solidFill>
                <a:latin typeface="游ゴシック"/>
              </a:defRPr>
            </a:pPr>
            <a:r>
              <a:t>- 差別化技術の最大限活用</a:t>
            </a:r>
          </a:p>
        </p:txBody>
      </p:sp>
      <p:sp>
        <p:nvSpPr>
          <p:cNvPr id="33" name="TextBox 32"/>
          <p:cNvSpPr txBox="1"/>
          <p:nvPr/>
        </p:nvSpPr>
        <p:spPr>
          <a:xfrm>
            <a:off x="7787487" y="3831336"/>
            <a:ext cx="2468880" cy="201168"/>
          </a:xfrm>
          <a:prstGeom prst="rect">
            <a:avLst/>
          </a:prstGeom>
          <a:noFill/>
        </p:spPr>
        <p:txBody>
          <a:bodyPr wrap="square">
            <a:spAutoFit/>
          </a:bodyPr>
          <a:lstStyle/>
          <a:p>
            <a:pPr algn="l">
              <a:defRPr sz="900" b="0">
                <a:solidFill>
                  <a:srgbClr val="333333"/>
                </a:solidFill>
                <a:latin typeface="游ゴシック"/>
              </a:defRPr>
            </a:pPr>
            <a:r>
              <a:t>- 短期間で多くのSMCを競合に先駆け上市</a:t>
            </a:r>
          </a:p>
        </p:txBody>
      </p:sp>
      <p:sp>
        <p:nvSpPr>
          <p:cNvPr id="34" name="Right Arrow 33"/>
          <p:cNvSpPr/>
          <p:nvPr/>
        </p:nvSpPr>
        <p:spPr>
          <a:xfrm>
            <a:off x="1798167" y="6126480"/>
            <a:ext cx="8595360" cy="22860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83680"/>
            <a:ext cx="12191695" cy="27432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47120" y="6446520"/>
            <a:ext cx="914400" cy="365760"/>
          </a:xfrm>
          <a:prstGeom prst="rect">
            <a:avLst/>
          </a:prstGeom>
          <a:noFill/>
        </p:spPr>
        <p:txBody>
          <a:bodyPr wrap="square">
            <a:spAutoFit/>
          </a:bodyPr>
          <a:lstStyle/>
          <a:p>
            <a:pPr algn="r">
              <a:defRPr sz="1000" b="0">
                <a:solidFill>
                  <a:srgbClr val="009966"/>
                </a:solidFill>
                <a:latin typeface="游ゴシック"/>
              </a:defRPr>
            </a:pPr>
            <a: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游ゴシック"/>
              </a:defRPr>
            </a:pPr>
            <a:r>
              <a:t>ギャップの構造分析</a:t>
            </a:r>
          </a:p>
        </p:txBody>
      </p:sp>
      <p:sp>
        <p:nvSpPr>
          <p:cNvPr id="4" name="Rounded Rectangle 3"/>
          <p:cNvSpPr/>
          <p:nvPr/>
        </p:nvSpPr>
        <p:spPr>
          <a:xfrm>
            <a:off x="457200" y="1280160"/>
            <a:ext cx="5303520" cy="640080"/>
          </a:xfrm>
          <a:prstGeom prst="round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游ゴシック"/>
              </a:defRPr>
            </a:pPr>
            <a:r>
              <a:t>ギャップ要因</a:t>
            </a:r>
          </a:p>
        </p:txBody>
      </p:sp>
      <p:sp>
        <p:nvSpPr>
          <p:cNvPr id="5" name="TextBox 4"/>
          <p:cNvSpPr txBox="1"/>
          <p:nvPr/>
        </p:nvSpPr>
        <p:spPr>
          <a:xfrm>
            <a:off x="640080" y="2103120"/>
            <a:ext cx="4937760" cy="4114800"/>
          </a:xfrm>
          <a:prstGeom prst="rect">
            <a:avLst/>
          </a:prstGeom>
          <a:noFill/>
        </p:spPr>
        <p:txBody>
          <a:bodyPr wrap="square">
            <a:spAutoFit/>
          </a:bodyPr>
          <a:lstStyle/>
          <a:p>
            <a:pPr algn="l">
              <a:spcBef>
                <a:spcPts val="400"/>
              </a:spcBef>
              <a:defRPr sz="1400" b="0">
                <a:solidFill>
                  <a:srgbClr val="333333"/>
                </a:solidFill>
                <a:latin typeface="游ゴシック"/>
              </a:defRPr>
            </a:pPr>
            <a:r>
              <a:t>法的責任の所在が不明確</a:t>
            </a:r>
          </a:p>
          <a:p>
            <a:pPr>
              <a:spcBef>
                <a:spcPts val="400"/>
              </a:spcBef>
              <a:defRPr sz="1400">
                <a:solidFill>
                  <a:srgbClr val="333333"/>
                </a:solidFill>
                <a:latin typeface="游ゴシック"/>
              </a:defRPr>
            </a:pPr>
            <a:r>
              <a:t>倫理的判断の委任限界</a:t>
            </a:r>
          </a:p>
          <a:p>
            <a:pPr>
              <a:spcBef>
                <a:spcPts val="400"/>
              </a:spcBef>
              <a:defRPr sz="1400">
                <a:solidFill>
                  <a:srgbClr val="333333"/>
                </a:solidFill>
                <a:latin typeface="游ゴシック"/>
              </a:defRPr>
            </a:pPr>
            <a:r>
              <a:t>情緒的受容（AIへの不信感）</a:t>
            </a:r>
          </a:p>
          <a:p>
            <a:pPr>
              <a:spcBef>
                <a:spcPts val="400"/>
              </a:spcBef>
              <a:defRPr sz="1400">
                <a:solidFill>
                  <a:srgbClr val="333333"/>
                </a:solidFill>
                <a:latin typeface="游ゴシック"/>
              </a:defRPr>
            </a:pPr>
            <a:r>
              <a:t>認証・規格の未対応</a:t>
            </a:r>
          </a:p>
          <a:p>
            <a:pPr>
              <a:spcBef>
                <a:spcPts val="400"/>
              </a:spcBef>
              <a:defRPr sz="1400">
                <a:solidFill>
                  <a:srgbClr val="333333"/>
                </a:solidFill>
                <a:latin typeface="游ゴシック"/>
              </a:defRPr>
            </a:pPr>
            <a:r>
              <a:t>サプライチェーンの成熟度格差</a:t>
            </a:r>
          </a:p>
        </p:txBody>
      </p:sp>
      <p:sp>
        <p:nvSpPr>
          <p:cNvPr id="6" name="Rounded Rectangle 5"/>
          <p:cNvSpPr/>
          <p:nvPr/>
        </p:nvSpPr>
        <p:spPr>
          <a:xfrm>
            <a:off x="6217920" y="1280160"/>
            <a:ext cx="5303520" cy="640080"/>
          </a:xfrm>
          <a:prstGeom prst="round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游ゴシック"/>
              </a:defRPr>
            </a:pPr>
            <a:r>
              <a:t>解決の方向性</a:t>
            </a:r>
          </a:p>
        </p:txBody>
      </p:sp>
      <p:sp>
        <p:nvSpPr>
          <p:cNvPr id="7" name="TextBox 6"/>
          <p:cNvSpPr txBox="1"/>
          <p:nvPr/>
        </p:nvSpPr>
        <p:spPr>
          <a:xfrm>
            <a:off x="6400800" y="2103120"/>
            <a:ext cx="4937760" cy="4114800"/>
          </a:xfrm>
          <a:prstGeom prst="rect">
            <a:avLst/>
          </a:prstGeom>
          <a:noFill/>
        </p:spPr>
        <p:txBody>
          <a:bodyPr wrap="square">
            <a:spAutoFit/>
          </a:bodyPr>
          <a:lstStyle/>
          <a:p>
            <a:pPr algn="l">
              <a:spcBef>
                <a:spcPts val="400"/>
              </a:spcBef>
              <a:defRPr sz="1400" b="0">
                <a:solidFill>
                  <a:srgbClr val="333333"/>
                </a:solidFill>
                <a:latin typeface="游ゴシック"/>
              </a:defRPr>
            </a:pPr>
            <a:r>
              <a:t>非安全領域から安全領域へ段階的導入</a:t>
            </a:r>
          </a:p>
          <a:p>
            <a:pPr>
              <a:spcBef>
                <a:spcPts val="400"/>
              </a:spcBef>
              <a:defRPr sz="1400">
                <a:solidFill>
                  <a:srgbClr val="333333"/>
                </a:solidFill>
                <a:latin typeface="游ゴシック"/>
              </a:defRPr>
            </a:pPr>
            <a:r>
              <a:t>判断根拠の可視化（Explainable AI）</a:t>
            </a:r>
          </a:p>
          <a:p>
            <a:pPr>
              <a:spcBef>
                <a:spcPts val="400"/>
              </a:spcBef>
              <a:defRPr sz="1400">
                <a:solidFill>
                  <a:srgbClr val="333333"/>
                </a:solidFill>
                <a:latin typeface="游ゴシック"/>
              </a:defRPr>
            </a:pPr>
            <a:r>
              <a:t>規制形成への積極参画</a:t>
            </a:r>
          </a:p>
          <a:p>
            <a:pPr>
              <a:spcBef>
                <a:spcPts val="400"/>
              </a:spcBef>
              <a:defRPr sz="1400">
                <a:solidFill>
                  <a:srgbClr val="333333"/>
                </a:solidFill>
                <a:latin typeface="游ゴシック"/>
              </a:defRPr>
            </a:pPr>
            <a:r>
              <a:t>ドメインスキルによる組織知の形式知化</a:t>
            </a:r>
          </a:p>
          <a:p>
            <a:pPr>
              <a:spcBef>
                <a:spcPts val="400"/>
              </a:spcBef>
              <a:defRPr sz="1400">
                <a:solidFill>
                  <a:srgbClr val="333333"/>
                </a:solidFill>
                <a:latin typeface="游ゴシック"/>
              </a:defRPr>
            </a:pPr>
            <a:r>
              <a:t>パイロットPJで定量実績を蓄積</a:t>
            </a:r>
          </a:p>
        </p:txBody>
      </p:sp>
      <p:sp>
        <p:nvSpPr>
          <p:cNvPr id="8" name="Rectangle 7"/>
          <p:cNvSpPr/>
          <p:nvPr/>
        </p:nvSpPr>
        <p:spPr>
          <a:xfrm>
            <a:off x="5989320" y="1280160"/>
            <a:ext cx="45720" cy="48463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83680"/>
            <a:ext cx="12191695" cy="274320"/>
          </a:xfrm>
          <a:prstGeom prst="rect">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46520"/>
            <a:ext cx="914400" cy="365760"/>
          </a:xfrm>
          <a:prstGeom prst="rect">
            <a:avLst/>
          </a:prstGeom>
          <a:noFill/>
        </p:spPr>
        <p:txBody>
          <a:bodyPr wrap="square">
            <a:spAutoFit/>
          </a:bodyPr>
          <a:lstStyle/>
          <a:p>
            <a:pPr algn="r">
              <a:defRPr sz="1000" b="0">
                <a:solidFill>
                  <a:srgbClr val="009966"/>
                </a:solidFill>
                <a:latin typeface="游ゴシック"/>
              </a:defRPr>
            </a:pPr>
            <a: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square">
            <a:spAutoFit/>
          </a:bodyPr>
          <a:lstStyle/>
          <a:p>
            <a:pPr algn="l">
              <a:defRPr sz="3000" b="1">
                <a:solidFill>
                  <a:srgbClr val="FFFFFF"/>
                </a:solidFill>
                <a:latin typeface="游ゴシック"/>
              </a:defRPr>
            </a:pPr>
            <a:r>
              <a:t>EDIA が目指す未来</a:t>
            </a:r>
          </a:p>
        </p:txBody>
      </p:sp>
      <p:sp>
        <p:nvSpPr>
          <p:cNvPr id="4" name="Oval 3"/>
          <p:cNvSpPr/>
          <p:nvPr/>
        </p:nvSpPr>
        <p:spPr>
          <a:xfrm>
            <a:off x="1295247" y="1371600"/>
            <a:ext cx="2926080" cy="292608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技術的可能性</a:t>
            </a:r>
          </a:p>
          <a:p>
            <a:pPr algn="ctr">
              <a:spcBef>
                <a:spcPts val="200"/>
              </a:spcBef>
              <a:defRPr sz="1000" b="0">
                <a:solidFill>
                  <a:srgbClr val="FFFFEE"/>
                </a:solidFill>
                <a:latin typeface="游ゴシック"/>
              </a:defRPr>
            </a:pPr>
            <a:r>
              <a:t>60-90%は技術的に実現可能</a:t>
            </a:r>
          </a:p>
          <a:p>
            <a:pPr algn="ctr">
              <a:spcBef>
                <a:spcPts val="200"/>
              </a:spcBef>
              <a:defRPr sz="1000" b="0">
                <a:solidFill>
                  <a:srgbClr val="FFFFEE"/>
                </a:solidFill>
                <a:latin typeface="游ゴシック"/>
              </a:defRPr>
            </a:pPr>
            <a:r>
              <a:t>AI×ドメイン知識で突破口を開く</a:t>
            </a:r>
          </a:p>
        </p:txBody>
      </p:sp>
      <p:sp>
        <p:nvSpPr>
          <p:cNvPr id="5" name="Oval 4"/>
          <p:cNvSpPr/>
          <p:nvPr/>
        </p:nvSpPr>
        <p:spPr>
          <a:xfrm>
            <a:off x="4495647" y="1371600"/>
            <a:ext cx="2926080" cy="2926080"/>
          </a:xfrm>
          <a:prstGeom prst="ellipse">
            <a:avLst/>
          </a:prstGeom>
          <a:solidFill>
            <a:srgbClr val="0099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ギャップの壁</a:t>
            </a:r>
          </a:p>
          <a:p>
            <a:pPr algn="ctr">
              <a:spcBef>
                <a:spcPts val="200"/>
              </a:spcBef>
              <a:defRPr sz="1000" b="0">
                <a:solidFill>
                  <a:srgbClr val="FFFFEE"/>
                </a:solidFill>
                <a:latin typeface="游ゴシック"/>
              </a:defRPr>
            </a:pPr>
            <a:r>
              <a:t>法規制・倫理・認証</a:t>
            </a:r>
          </a:p>
          <a:p>
            <a:pPr algn="ctr">
              <a:spcBef>
                <a:spcPts val="200"/>
              </a:spcBef>
              <a:defRPr sz="1000" b="0">
                <a:solidFill>
                  <a:srgbClr val="FFFFEE"/>
                </a:solidFill>
                <a:latin typeface="游ゴシック"/>
              </a:defRPr>
            </a:pPr>
            <a:r>
              <a:t>情緒的受容の壁が最大の課題</a:t>
            </a:r>
          </a:p>
        </p:txBody>
      </p:sp>
      <p:sp>
        <p:nvSpPr>
          <p:cNvPr id="6" name="Oval 5"/>
          <p:cNvSpPr/>
          <p:nvPr/>
        </p:nvSpPr>
        <p:spPr>
          <a:xfrm>
            <a:off x="7696047" y="1371600"/>
            <a:ext cx="2926080" cy="2926080"/>
          </a:xfrm>
          <a:prstGeom prst="ellipse">
            <a:avLst/>
          </a:prstGeom>
          <a:solidFill>
            <a:srgbClr val="0066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実効適用</a:t>
            </a:r>
          </a:p>
          <a:p>
            <a:pPr algn="ctr">
              <a:spcBef>
                <a:spcPts val="200"/>
              </a:spcBef>
              <a:defRPr sz="1000" b="0">
                <a:solidFill>
                  <a:srgbClr val="FFFFEE"/>
                </a:solidFill>
                <a:latin typeface="游ゴシック"/>
              </a:defRPr>
            </a:pPr>
            <a:r>
              <a:t>現状20-50% → 段階的に拡大</a:t>
            </a:r>
          </a:p>
          <a:p>
            <a:pPr algn="ctr">
              <a:spcBef>
                <a:spcPts val="200"/>
              </a:spcBef>
              <a:defRPr sz="1000" b="0">
                <a:solidFill>
                  <a:srgbClr val="FFFFEE"/>
                </a:solidFill>
                <a:latin typeface="游ゴシック"/>
              </a:defRPr>
            </a:pPr>
            <a:r>
              <a:t>ドメインスキルが鍵を握る</a:t>
            </a:r>
          </a:p>
        </p:txBody>
      </p:sp>
      <p:sp>
        <p:nvSpPr>
          <p:cNvPr id="7" name="Rounded Rectangle 6"/>
          <p:cNvSpPr/>
          <p:nvPr/>
        </p:nvSpPr>
        <p:spPr>
          <a:xfrm>
            <a:off x="914400" y="5029200"/>
            <a:ext cx="10332720" cy="1097280"/>
          </a:xfrm>
          <a:prstGeom prst="roundRect">
            <a:avLst/>
          </a:prstGeom>
          <a:solidFill>
            <a:srgbClr val="FFFF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5212080"/>
            <a:ext cx="9418320" cy="731520"/>
          </a:xfrm>
          <a:prstGeom prst="rect">
            <a:avLst/>
          </a:prstGeom>
          <a:noFill/>
        </p:spPr>
        <p:txBody>
          <a:bodyPr wrap="square">
            <a:spAutoFit/>
          </a:bodyPr>
          <a:lstStyle/>
          <a:p>
            <a:pPr algn="ctr">
              <a:defRPr sz="1800" b="1">
                <a:solidFill>
                  <a:srgbClr val="333333"/>
                </a:solidFill>
                <a:latin typeface="游ゴシック"/>
              </a:defRPr>
            </a:pPr>
            <a:r>
              <a:t>ドメインスキルの整備で技術的可能性と実効適用のギャップを段階的に突破する</a:t>
            </a:r>
          </a:p>
        </p:txBody>
      </p:sp>
      <p:sp>
        <p:nvSpPr>
          <p:cNvPr id="9" name="Rectangle 8"/>
          <p:cNvSpPr/>
          <p:nvPr/>
        </p:nvSpPr>
        <p:spPr>
          <a:xfrm>
            <a:off x="0" y="6537960"/>
            <a:ext cx="12191695" cy="32004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46520"/>
            <a:ext cx="914400" cy="365760"/>
          </a:xfrm>
          <a:prstGeom prst="rect">
            <a:avLst/>
          </a:prstGeom>
          <a:noFill/>
        </p:spPr>
        <p:txBody>
          <a:bodyPr wrap="square">
            <a:spAutoFit/>
          </a:bodyPr>
          <a:lstStyle/>
          <a:p>
            <a:pPr algn="r">
              <a:defRPr sz="1000" b="0">
                <a:solidFill>
                  <a:srgbClr val="009966"/>
                </a:solidFill>
                <a:latin typeface="游ゴシック"/>
              </a:defRPr>
            </a:pPr>
            <a: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