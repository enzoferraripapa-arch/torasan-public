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" y="54864"/>
            <a:ext cx="1188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游ゴシック"/>
              </a:defRPr>
            </a:pPr>
            <a:r>
              <a:t>EDIA — AI×組込み開発 ロードマップ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6656"/>
            <a:ext cx="12191695" cy="630936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694944"/>
            <a:ext cx="119786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FF"/>
                </a:solidFill>
                <a:latin typeface="游ゴシック"/>
              </a:defRPr>
            </a:pPr>
            <a:r>
              <a:t>ドメイン特化AIエージェントによる組込み開発プロセスの自動化 — 技術的可能性と実装ギャップの分析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000000"/>
                </a:solidFill>
                <a:latin typeface="游ゴシック"/>
              </a:defRPr>
            </a:pPr>
            <a:r>
              <a:t>「AIを導入するか否か」ではなく「AIにどれだけ質の高いドメイン知識を食わせられるか」が競争力を決める</a:t>
            </a:r>
          </a:p>
        </p:txBody>
      </p:sp>
      <p:sp>
        <p:nvSpPr>
          <p:cNvPr id="5" name="Rounded Rectangle 4"/>
          <p:cNvSpPr/>
          <p:nvPr/>
        </p:nvSpPr>
        <p:spPr>
          <a:xfrm rot="21300000">
            <a:off x="0" y="2203704"/>
            <a:ext cx="11887200" cy="3657600"/>
          </a:xfrm>
          <a:prstGeom prst="swooshArrow">
            <a:avLst>
              <a:gd name="adj1" fmla="val 25000"/>
              <a:gd name="adj2" fmla="val 25000"/>
            </a:avLst>
          </a:prstGeom>
          <a:gradFill rotWithShape="1">
            <a:gsLst>
              <a:gs pos="0">
                <a:srgbClr val="8C8CFF">
                  <a:alpha val="80000"/>
                </a:srgbClr>
              </a:gs>
              <a:gs pos="100000">
                <a:srgbClr val="D8D8FF">
                  <a:alpha val="50000"/>
                </a:srgbClr>
              </a:gs>
            </a:gsLst>
            <a:lin ang="10800000" scaled="1"/>
          </a:gradFill>
          <a:ln>
            <a:noFill/>
          </a:ln>
          <a:effectLst>
            <a:glow rad="127000">
              <a:srgbClr val="4BACC6">
                <a:lumMod val="20000"/>
                <a:lumOff val="80000"/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90000">
            <a:off x="182880" y="4005072"/>
            <a:ext cx="11430000" cy="3017520"/>
          </a:xfrm>
          <a:prstGeom prst="swooshArrow">
            <a:avLst>
              <a:gd name="adj1" fmla="val 25000"/>
              <a:gd name="adj2" fmla="val 25000"/>
            </a:avLst>
          </a:prstGeom>
          <a:gradFill rotWithShape="1">
            <a:gsLst>
              <a:gs pos="0">
                <a:srgbClr val="8C9AB7">
                  <a:alpha val="80000"/>
                </a:srgbClr>
              </a:gs>
              <a:gs pos="100000">
                <a:srgbClr val="D8DDE7">
                  <a:alpha val="50000"/>
                </a:srgbClr>
              </a:gs>
            </a:gsLst>
            <a:lin ang="10800000" scaled="1"/>
          </a:gradFill>
          <a:ln>
            <a:noFill/>
          </a:ln>
          <a:effectLst>
            <a:glow rad="127000">
              <a:srgbClr val="4BACC6">
                <a:lumMod val="20000"/>
                <a:lumOff val="80000"/>
                <a:alpha val="1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" y="1481328"/>
            <a:ext cx="2752344" cy="42062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1481328"/>
            <a:ext cx="2697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【凡例】</a:t>
            </a:r>
          </a:p>
          <a:p>
            <a:pPr algn="l">
              <a:spcBef>
                <a:spcPts val="0"/>
              </a:spcBef>
              <a:defRPr sz="900" b="0">
                <a:solidFill>
                  <a:srgbClr val="000000"/>
                </a:solidFill>
                <a:latin typeface="游ゴシック"/>
              </a:defRPr>
            </a:pPr>
            <a:r>
              <a:t>◎可能：技術的に実用可能な領域</a:t>
            </a:r>
          </a:p>
          <a:p>
            <a:pPr algn="l">
              <a:spcBef>
                <a:spcPts val="0"/>
              </a:spcBef>
              <a:defRPr sz="900" b="0">
                <a:solidFill>
                  <a:srgbClr val="000000"/>
                </a:solidFill>
                <a:latin typeface="游ゴシック"/>
              </a:defRPr>
            </a:pPr>
            <a:r>
              <a:t>△限界：法規制・倫理・情緒的要因で制約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081528"/>
            <a:ext cx="291076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游ゴシック"/>
              </a:defRPr>
            </a:pPr>
            <a:r>
              <a:t>Phase 1 (2026-2027)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" y="3337560"/>
            <a:ext cx="2910763" cy="50292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Level 1 汎用AIエージェント基盤構築期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3886200"/>
            <a:ext cx="29564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FF"/>
                </a:solidFill>
                <a:latin typeface="游ゴシック"/>
              </a:defRPr>
            </a:pPr>
            <a:r>
              <a:t>◎可能：文書自動生成、ｿﾌﾄｳｪｱ設計ﾃｽﾄ自動化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、構成管理自動化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、MISRA-C準拠ｺｰﾄﾞ生成、静的解析自動実行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0000"/>
                </a:solidFill>
                <a:latin typeface="游ゴシック"/>
              </a:defRPr>
            </a:pPr>
            <a:r>
              <a:t>△限界：規格が人間による安全判断を前提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法的責任・認証がAI成果物を未想定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ﾄﾞﾒｲﾝ知識不足で実効適用20-30%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技術的60-70%可能 → 実効20-30%のｷﾞｬｯﾌﾟ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5138928"/>
            <a:ext cx="291076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游ゴシック"/>
              </a:defRPr>
            </a:pPr>
            <a:r>
              <a:t>Phase 1 (2026-2027)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" y="5394960"/>
            <a:ext cx="2910763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ドメインスキル整備とAIガバナンス基盤構築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5943600"/>
            <a:ext cx="295648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◇最優先施策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◆全社AIｶﾞﾊﾞﾅﾝｽﾌﾚｰﾑﾜｰｸ策定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◆ﾄﾞﾒｲﾝｽｷﾙの全社整備(6領域)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◆先行ﾊﾟｲﾛｯﾄPJ 3-5件で定量ROI取得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◇人材育成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◆AIｽｷﾙﾏｽﾀｰ人材の育成開始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◆NDA・機密性管理ﾌﾚｰﾑﾜｰｸ策定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◆「ﾄﾞﾒｲﾝｽｷﾙを書ける人材」の戦略的育成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75355" y="2560320"/>
            <a:ext cx="0" cy="502920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9363" y="2578608"/>
            <a:ext cx="291076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游ゴシック"/>
              </a:defRPr>
            </a:pPr>
            <a:r>
              <a:t>Phase 2 (2028-2030)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3643" y="2834640"/>
            <a:ext cx="2910763" cy="50292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Level 2 ドメイン特化AI支援AIによる組織展開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3643" y="3383280"/>
            <a:ext cx="29564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FF"/>
                </a:solidFill>
                <a:latin typeface="游ゴシック"/>
              </a:defRPr>
            </a:pPr>
            <a:r>
              <a:t>◎可能：ｼｽﾃﾑ要件分析が跳躍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AI支援が一般化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ﾏﾙﾁｪｰｼﾞｪﾝﾄによるVﾌﾟﾛｾｽ半自動化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0000"/>
                </a:solidFill>
                <a:latin typeface="游ゴシック"/>
              </a:defRPr>
            </a:pPr>
            <a:r>
              <a:t>△限界：安全機能は情緒的受容の壁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認証機関のAI成果物受入基準が発展途上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ｻﾌﾟﾗｲﾁｪｰﾝ全体のAI成熟度格差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技術的80-90%可能 → 実効40-50%へ改善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9363" y="4636008"/>
            <a:ext cx="291076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游ゴシック"/>
              </a:defRPr>
            </a:pPr>
            <a:r>
              <a:t>Phase 2 (2028-2030)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93643" y="4892040"/>
            <a:ext cx="2910763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安全領域への段階展開認証実績構築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3643" y="5440680"/>
            <a:ext cx="295648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◇技術展開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◆安全領域への段階的AI適用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◆認証機関との対話・AI成果物受入実績構築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◆ﾏﾙﾁｪｰｼﾞｪﾝﾄVﾌﾟﾛｾｽの実用化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◇組織・ｻﾌﾟﾗｲﾁｪｰﾝ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◆ｻﾌﾟﾗｲﾔ向けAI活用要件の調達仕様化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◆全社横断のﾍﾞｽﾄﾌﾟﾗｸﾃｨｽ展開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◆業界標準化活動へのﾘｰﾀﾞｰｼｯﾌﾟ発揮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→ｶﾝﾊﾟﾆｰ個別から全社統一AI活用へ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77559" y="2057400"/>
            <a:ext cx="0" cy="502920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41567" y="2075688"/>
            <a:ext cx="291076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游ゴシック"/>
              </a:defRPr>
            </a:pPr>
            <a:r>
              <a:t>Phase 3 (2031-2035)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7" y="2331720"/>
            <a:ext cx="2910763" cy="50292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AI駆動型設計の全社標準化フルパイプライン構築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2880360"/>
            <a:ext cx="29564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FF"/>
                </a:solidFill>
                <a:latin typeface="游ゴシック"/>
              </a:defRPr>
            </a:pPr>
            <a:r>
              <a:t>◎可能：安全機能のAI支援設計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Formal Verification×AIで証明支援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AI設計の法的ﾌﾚｰﾑﾜｰｸが国際標準化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0000"/>
                </a:solidFill>
                <a:latin typeface="游ゴシック"/>
              </a:defRPr>
            </a:pPr>
            <a:r>
              <a:t>△限界：Human-on-the-Loopが主流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(完全自律は不可)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最終安全判断・倫理判断は人間必須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実効適用範囲の大幅拡大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認証ﾌﾟﾛｾｽのAI対応完了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567" y="4133088"/>
            <a:ext cx="291076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游ゴシック"/>
              </a:defRPr>
            </a:pPr>
            <a:r>
              <a:t>Phase 3 (2031-2035)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7" y="4389120"/>
            <a:ext cx="2910763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全製品ライン展開サプライチェーンAI化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4937760"/>
            <a:ext cx="295648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◇全社展開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◆全製品ﾗｲﾝでのAI支援設計標準化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◆ｻﾌﾟﾗｲﾁｪｰﾝ全体のAI化推進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◆次世代ｱｰｷﾃｸﾁｬの検討開始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◇持続的競争力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◆差別化技術(含AI)の最大限活用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◆短期間で多くのSMCを競合に先駆け上市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◆ｸﾞﾛｰﾊﾞﾙ規制環境でのﾘｰﾀﾞｰｼｯﾌﾟ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2060"/>
                </a:solidFill>
                <a:latin typeface="游ゴシック"/>
              </a:defRPr>
            </a:pPr>
            <a:r>
              <a:t>→産業ｴｺｼｽﾃﾑの再定義・新ﾋﾞｼﾞﾈｽﾓﾃﾞﾙ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79763" y="1554480"/>
            <a:ext cx="0" cy="502920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3771" y="1572768"/>
            <a:ext cx="291076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游ゴシック"/>
              </a:defRPr>
            </a:pPr>
            <a:r>
              <a:t>Phase 4 (2035-)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051" y="1828800"/>
            <a:ext cx="2910763" cy="502920"/>
          </a:xfrm>
          <a:prstGeom prst="roundRect">
            <a:avLst/>
          </a:prstGeom>
          <a:solidFill>
            <a:srgbClr val="0000FF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自律型AI設計産業変革期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051" y="2377439"/>
            <a:ext cx="295648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FF"/>
                </a:solidFill>
                <a:latin typeface="游ゴシック"/>
              </a:defRPr>
            </a:pPr>
            <a:r>
              <a:t>◎可能：AIが設計主体、人間が監督者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量子ｺﾝﾋﾟｭｰﾃｨﾝｸﾞ連携の形式検証高速化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業界全体の開発生産性が桁違いに向上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0000"/>
                </a:solidFill>
                <a:latin typeface="游ゴシック"/>
              </a:defRPr>
            </a:pPr>
            <a:r>
              <a:t>△残存課題：安全ｸﾘﾃｨｶﾙでは人間最終承認残存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AI起因重大事故時の社会的後退ﾘｽｸ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ﾌﾙｵｰﾄ設計の法的定義と責任体系確立</a:t>
            </a:r>
          </a:p>
          <a:p>
            <a:pPr algn="l">
              <a:spcBef>
                <a:spcPts val="0"/>
              </a:spcBef>
              <a:defRPr sz="900" b="1">
                <a:solidFill>
                  <a:srgbClr val="000000"/>
                </a:solidFill>
                <a:latin typeface="游ゴシック"/>
              </a:defRPr>
            </a:pPr>
            <a:r>
              <a:t>「役割逆転」が技術的に成立</a:t>
            </a:r>
          </a:p>
        </p:txBody>
      </p:sp>
      <p:sp>
        <p:nvSpPr>
          <p:cNvPr id="33" name="Rectangular Callout 32"/>
          <p:cNvSpPr/>
          <p:nvPr/>
        </p:nvSpPr>
        <p:spPr>
          <a:xfrm>
            <a:off x="109728" y="5468112"/>
            <a:ext cx="2688336" cy="841248"/>
          </a:xfrm>
          <a:prstGeom prst="wedgeRectCallout">
            <a:avLst>
              <a:gd name="adj1" fmla="val 60180"/>
              <a:gd name="adj2" fmla="val -95818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" y="5129784"/>
            <a:ext cx="134416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ギャップ要因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◇法的責任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◇倫理的判断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◇情緒的受容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◇認証・規格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53895" y="5129784"/>
            <a:ext cx="134416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解決の方向性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◇段階的導入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◇判断根拠可視化</a:t>
            </a:r>
          </a:p>
          <a:p>
            <a:pPr algn="l">
              <a:spcBef>
                <a:spcPts val="0"/>
              </a:spcBef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◇規制形成参画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63072" y="5879592"/>
            <a:ext cx="1298448" cy="320040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技術的可能性分析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63072" y="6245352"/>
            <a:ext cx="1298448" cy="32004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游ゴシック"/>
              </a:defRPr>
            </a:pPr>
            <a:r>
              <a:t>組織施策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