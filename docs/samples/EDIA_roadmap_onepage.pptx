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192" y="-5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 rot="21300000">
            <a:off x="0" y="2203704"/>
            <a:ext cx="11887200" cy="3657600"/>
          </a:xfrm>
          <a:prstGeom prst="swooshArrow">
            <a:avLst>
              <a:gd name="adj1" fmla="val 25000"/>
              <a:gd name="adj2" fmla="val 25000"/>
            </a:avLst>
          </a:prstGeom>
          <a:gradFill rotWithShape="1">
            <a:gsLst>
              <a:gs pos="0">
                <a:srgbClr val="4F81BD">
                  <a:alpha val="80000"/>
                </a:srgbClr>
              </a:gs>
              <a:gs pos="100000">
                <a:srgbClr val="DBE5F1">
                  <a:alpha val="50000"/>
                </a:srgbClr>
              </a:gs>
            </a:gsLst>
            <a:lin ang="10800000" scaled="1"/>
          </a:gradFill>
          <a:ln>
            <a:noFill/>
          </a:ln>
          <a:effectLst>
            <a:glow rad="127000">
              <a:srgbClr val="4BACC6">
                <a:lumMod val="20000"/>
                <a:lumOff val="80000"/>
                <a:alpha val="10000"/>
              </a:srgbClr>
            </a:glow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 rot="90000">
            <a:off x="182880" y="4005072"/>
            <a:ext cx="11430000" cy="3017520"/>
          </a:xfrm>
          <a:prstGeom prst="swooshArrow">
            <a:avLst>
              <a:gd name="adj1" fmla="val 25000"/>
              <a:gd name="adj2" fmla="val 25000"/>
            </a:avLst>
          </a:prstGeom>
          <a:gradFill rotWithShape="1">
            <a:gsLst>
              <a:gs pos="0">
                <a:srgbClr val="1F497D">
                  <a:alpha val="80000"/>
                </a:srgbClr>
              </a:gs>
              <a:gs pos="100000">
                <a:srgbClr val="C6D9F0">
                  <a:alpha val="50000"/>
                </a:srgbClr>
              </a:gs>
            </a:gsLst>
            <a:lin ang="10800000" scaled="1"/>
          </a:gradFill>
          <a:ln>
            <a:noFill/>
          </a:ln>
          <a:effectLst>
            <a:glow rad="127000">
              <a:srgbClr val="4BACC6">
                <a:lumMod val="20000"/>
                <a:lumOff val="80000"/>
                <a:alpha val="10000"/>
              </a:srgbClr>
            </a:glow>
            <a:reflection stA="0" endPos="65000" dist="508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" y="54864"/>
            <a:ext cx="1190548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EDIA — AI×組込み開発 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"/>
            <a:ext cx="12191695" cy="630936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" y="694944"/>
            <a:ext cx="1197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FF"/>
                </a:solidFill>
              </a:defRPr>
            </a:pPr>
            <a:r>
              <a:t>ドメイン特化AIエージェントによる組込み開発プロセスの自動化 — 技術的可能性と実装ギャップの分析</a:t>
            </a:r>
          </a:p>
          <a:p>
            <a:pPr algn="ctr">
              <a:spcBef>
                <a:spcPts val="0"/>
              </a:spcBef>
              <a:defRPr sz="1800" b="1">
                <a:solidFill>
                  <a:srgbClr val="000000"/>
                </a:solidFill>
              </a:defRPr>
            </a:pPr>
            <a:r>
              <a:t>「AIを導入するか否か」ではなく「AIにどれだけ質の高いドメイン知識を食わせられるか」が競争力を決める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" y="1481328"/>
            <a:ext cx="2752344" cy="42062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" y="1481328"/>
            <a:ext cx="2697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</a:defRPr>
            </a:pPr>
            <a:r>
              <a:t>【凡例】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◎可能：技術的に実用可能な領域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△限界：法規制・倫理・情緒的要因で制約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" y="1938528"/>
            <a:ext cx="896112" cy="338328"/>
          </a:xfrm>
          <a:prstGeom prst="round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技術的可能性</a:t>
            </a:r>
            <a:br/>
            <a:r>
              <a:t>60～90%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02082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938528"/>
            <a:ext cx="795528" cy="338328"/>
          </a:xfrm>
          <a:prstGeom prst="round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>
                <a:solidFill>
                  <a:srgbClr val="000000"/>
                </a:solidFill>
              </a:defRPr>
            </a:pPr>
            <a:r>
              <a:t>法規制</a:t>
            </a:r>
            <a:br/>
            <a:r>
              <a:t>倫理・認証</a:t>
            </a:r>
            <a:br/>
            <a:r>
              <a:t>情緒的受容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02082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1938528"/>
            <a:ext cx="749808" cy="338328"/>
          </a:xfrm>
          <a:prstGeom prst="roundRect">
            <a:avLst/>
          </a:prstGeom>
          <a:solidFill>
            <a:srgbClr val="E0F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実効適用</a:t>
            </a:r>
            <a:br/>
            <a:r>
              <a:t>20～50%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" y="2313432"/>
            <a:ext cx="2752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</a:defRPr>
            </a:pPr>
            <a:r>
              <a:t>ドメインスキルの整備で壁を段階的に突破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" y="2450592"/>
            <a:ext cx="2752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</a:defRPr>
            </a:pPr>
            <a:r>
              <a:t>→ 非安全領域から安全領域へ段階的に展開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1737360"/>
            <a:ext cx="0" cy="457200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43016" y="1417320"/>
            <a:ext cx="0" cy="457200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41664" y="960120"/>
            <a:ext cx="0" cy="457200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" y="2999232"/>
            <a:ext cx="2569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Phase 1　２０２６～２０２７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1810512"/>
            <a:ext cx="2569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Phase 2　２０２８～２０３０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1563624"/>
            <a:ext cx="2569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Phase 3　２０３１～２０３５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1280160"/>
            <a:ext cx="2569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Phase 4　２０３５～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" y="3246120"/>
            <a:ext cx="2834640" cy="502920"/>
          </a:xfrm>
          <a:prstGeom prst="roundRect">
            <a:avLst/>
          </a:prstGeom>
          <a:solidFill>
            <a:srgbClr val="0000FF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Level 1 汎用AIエージェント</a:t>
            </a:r>
            <a:br/>
            <a:r>
              <a:t>基盤構築期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2057400"/>
            <a:ext cx="2834640" cy="502920"/>
          </a:xfrm>
          <a:prstGeom prst="roundRect">
            <a:avLst/>
          </a:prstGeom>
          <a:solidFill>
            <a:srgbClr val="0000FF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Level 2 ドメイン特化AI</a:t>
            </a:r>
            <a:br/>
            <a:r>
              <a:t>支援AIによる組織展開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88736" y="1810512"/>
            <a:ext cx="2834640" cy="502920"/>
          </a:xfrm>
          <a:prstGeom prst="roundRect">
            <a:avLst/>
          </a:prstGeom>
          <a:solidFill>
            <a:srgbClr val="0000FF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AI駆動型設計の全社標準化</a:t>
            </a:r>
            <a:br/>
            <a:r>
              <a:t>フルパイプライン構築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7384" y="1527048"/>
            <a:ext cx="2834640" cy="502920"/>
          </a:xfrm>
          <a:prstGeom prst="roundRect">
            <a:avLst/>
          </a:prstGeom>
          <a:solidFill>
            <a:srgbClr val="0000FF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自律型AI設計</a:t>
            </a:r>
            <a:br/>
            <a:r>
              <a:t>産業変革期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" y="3767328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FF"/>
                </a:solidFill>
              </a:defRPr>
            </a:pPr>
            <a:r>
              <a:t>◎可能：文書自動生成、ｿﾌﾄｳｪｱ設計ﾃｽﾄ自動化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、構成管理自動化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、MISRA-C準拠ｺｰﾄﾞ生成、静的解析自動実行</a:t>
            </a:r>
          </a:p>
          <a:p>
            <a:pPr>
              <a:spcBef>
                <a:spcPts val="0"/>
              </a:spcBef>
              <a:defRPr sz="900" b="1">
                <a:solidFill>
                  <a:srgbClr val="FF0000"/>
                </a:solidFill>
              </a:defRPr>
            </a:pPr>
            <a:r>
              <a:t>△限界：規格が人間による安全判断を前提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法的責任・認証がAI成果物を未想定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ﾄﾞﾒｲﾝ知識不足で実効適用20-30%</a:t>
            </a:r>
          </a:p>
          <a:p>
            <a:pPr>
              <a:spcBef>
                <a:spcPts val="0"/>
              </a:spcBef>
              <a:defRPr sz="900" b="1">
                <a:solidFill>
                  <a:srgbClr val="0000FF"/>
                </a:solidFill>
              </a:defRPr>
            </a:pPr>
            <a:r>
              <a:t>技術的60-70%可能 → 実効20-30%のｷﾞｬｯﾌﾟ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578608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FF"/>
                </a:solidFill>
              </a:defRPr>
            </a:pPr>
            <a:r>
              <a:t>◎可能：ｼｽﾃﾑ要件分析が跳躍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AI支援が一般化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ﾏﾙﾁｪｰｼﾞｪﾝﾄによるVﾌﾟﾛｾｽ半自動化</a:t>
            </a:r>
          </a:p>
          <a:p>
            <a:pPr>
              <a:spcBef>
                <a:spcPts val="0"/>
              </a:spcBef>
              <a:defRPr sz="900" b="1">
                <a:solidFill>
                  <a:srgbClr val="FF0000"/>
                </a:solidFill>
              </a:defRPr>
            </a:pPr>
            <a:r>
              <a:t>△限界：安全機能は情緒的受容の壁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認証機関のAI成果物受入基準が発展途上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ｻﾌﾟﾗｲﾁｪｰﾝ全体のAI成熟度格差</a:t>
            </a:r>
          </a:p>
          <a:p>
            <a:pPr>
              <a:spcBef>
                <a:spcPts val="0"/>
              </a:spcBef>
              <a:defRPr sz="900" b="1">
                <a:solidFill>
                  <a:srgbClr val="0000FF"/>
                </a:solidFill>
              </a:defRPr>
            </a:pPr>
            <a:r>
              <a:t>技術的80-90%可能 → 実効40-50%へ改善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3872" y="2331720"/>
            <a:ext cx="288036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FF"/>
                </a:solidFill>
              </a:defRPr>
            </a:pPr>
            <a:r>
              <a:t>◎可能：安全機能のAI支援設計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Formal Verification×AIで証明支援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AI設計の法的ﾌﾚｰﾑﾜｰｸが国際標準化</a:t>
            </a:r>
          </a:p>
          <a:p>
            <a:pPr>
              <a:spcBef>
                <a:spcPts val="0"/>
              </a:spcBef>
              <a:defRPr sz="900" b="1">
                <a:solidFill>
                  <a:srgbClr val="FF0000"/>
                </a:solidFill>
              </a:defRPr>
            </a:pPr>
            <a:r>
              <a:t>△限界：Human-on-the-Loopが主流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(完全自律は不可)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最終安全判断・倫理判断は人間必須</a:t>
            </a:r>
          </a:p>
          <a:p>
            <a:pPr>
              <a:spcBef>
                <a:spcPts val="0"/>
              </a:spcBef>
              <a:defRPr sz="900" b="1">
                <a:solidFill>
                  <a:srgbClr val="0000FF"/>
                </a:solidFill>
              </a:defRPr>
            </a:pPr>
            <a:r>
              <a:t>実効適用範囲の大幅拡大</a:t>
            </a:r>
          </a:p>
          <a:p>
            <a:pPr>
              <a:spcBef>
                <a:spcPts val="0"/>
              </a:spcBef>
              <a:defRPr sz="900" b="1">
                <a:solidFill>
                  <a:srgbClr val="0000FF"/>
                </a:solidFill>
              </a:defRPr>
            </a:pPr>
            <a:r>
              <a:t>認証ﾌﾟﾛｾｽのAI対応完了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41664" y="2048256"/>
            <a:ext cx="288036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FF"/>
                </a:solidFill>
              </a:defRPr>
            </a:pPr>
            <a:r>
              <a:t>◎可能：AIが設計主体、人間が監督者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量子ｺﾝﾋﾟｭｰﾃｨﾝｸﾞ連携の形式検証高速化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業界全体の開発生産性が桁違いに向上</a:t>
            </a:r>
          </a:p>
          <a:p>
            <a:pPr>
              <a:spcBef>
                <a:spcPts val="0"/>
              </a:spcBef>
              <a:defRPr sz="900" b="1">
                <a:solidFill>
                  <a:srgbClr val="FF0000"/>
                </a:solidFill>
              </a:defRPr>
            </a:pPr>
            <a:r>
              <a:t>△残存課題：安全ｸﾘﾃｨｶﾙでは人間最終承認残存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AI起因重大事故時の社会的後退ﾘｽｸ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　　　ﾌﾙｵｰﾄ設計の法的定義と責任体系確立</a:t>
            </a:r>
          </a:p>
          <a:p>
            <a:pPr>
              <a:spcBef>
                <a:spcPts val="0"/>
              </a:spcBef>
              <a:defRPr sz="900" b="1">
                <a:solidFill>
                  <a:srgbClr val="0000FF"/>
                </a:solidFill>
              </a:defRPr>
            </a:pPr>
            <a:r>
              <a:t>「役割逆転」が技術的に成立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279392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Phase 2　２０２８～２０３０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34456" y="3959352"/>
            <a:ext cx="2240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Phase 3　２０３１～２０３５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3621024"/>
            <a:ext cx="2240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Phase 4　２０３５～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1800" y="4526280"/>
            <a:ext cx="2834640" cy="50292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ドメインスキル整備と</a:t>
            </a:r>
            <a:br/>
            <a:r>
              <a:t>AIガバナンス基盤構築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88736" y="4206240"/>
            <a:ext cx="2834640" cy="50292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安全領域への段階展開</a:t>
            </a:r>
            <a:br/>
            <a:r>
              <a:t>認証実績構築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87384" y="3867912"/>
            <a:ext cx="2834640" cy="50292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全製品ライン展開</a:t>
            </a:r>
            <a:br/>
            <a:r>
              <a:t>サプライチェーンAI化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047488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060"/>
                </a:solidFill>
              </a:defRPr>
            </a:pPr>
            <a:r>
              <a:t>◇最優先施策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◆全社AIｶﾞﾊﾞﾅﾝｽﾌﾚｰﾑﾜｰｸ策定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◆ﾄﾞﾒｲﾝｽｷﾙの全社整備(6領域)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◆先行ﾊﾟｲﾛｯﾄPJ 3-5件で定量ROI取得</a:t>
            </a:r>
          </a:p>
          <a:p>
            <a:pPr>
              <a:spcBef>
                <a:spcPts val="0"/>
              </a:spcBef>
              <a:defRPr sz="900" b="1">
                <a:solidFill>
                  <a:srgbClr val="002060"/>
                </a:solidFill>
              </a:defRPr>
            </a:pPr>
            <a:r>
              <a:t>◇人材育成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◆AIｽｷﾙﾏｽﾀｰ人材の育成開始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◆NDA・機密性管理ﾌﾚｰﾑﾜｰｸ策定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◆「ﾄﾞﾒｲﾝｽｷﾙを書ける人材」の戦略的育成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3872" y="4727448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060"/>
                </a:solidFill>
              </a:defRPr>
            </a:pPr>
            <a:r>
              <a:t>◇技術展開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◆安全領域への段階的AI適用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◆認証機関との対話・AI成果物受入実績構築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◆ﾏﾙﾁｪｰｼﾞｪﾝﾄVﾌﾟﾛｾｽの実用化</a:t>
            </a:r>
          </a:p>
          <a:p>
            <a:pPr>
              <a:spcBef>
                <a:spcPts val="0"/>
              </a:spcBef>
              <a:defRPr sz="900" b="1">
                <a:solidFill>
                  <a:srgbClr val="002060"/>
                </a:solidFill>
              </a:defRPr>
            </a:pPr>
            <a:r>
              <a:t>◇組織・ｻﾌﾟﾗｲﾁｪｰﾝ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◆ｻﾌﾟﾗｲﾔ向けAI活用要件の調達仕様化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◆全社横断のﾍﾞｽﾄﾌﾟﾗｸﾃｨｽ展開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◆業界標準化活動へのﾘｰﾀﾞｰｼｯﾌﾟ発揮</a:t>
            </a:r>
          </a:p>
          <a:p>
            <a:pPr>
              <a:spcBef>
                <a:spcPts val="0"/>
              </a:spcBef>
              <a:defRPr sz="900" b="1">
                <a:solidFill>
                  <a:srgbClr val="002060"/>
                </a:solidFill>
              </a:defRPr>
            </a:pPr>
            <a:r>
              <a:t>→ｶﾝﾊﾟﾆｰ個別から全社統一AI活用へ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1664" y="4389120"/>
            <a:ext cx="2880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060"/>
                </a:solidFill>
              </a:defRPr>
            </a:pPr>
            <a:r>
              <a:t>◇全社展開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◆全製品ﾗｲﾝでのAI支援設計標準化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◆ｻﾌﾟﾗｲﾁｪｰﾝ全体のAI化推進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◆次世代ｱｰｷﾃｸﾁｬの検討開始</a:t>
            </a:r>
          </a:p>
          <a:p>
            <a:pPr>
              <a:spcBef>
                <a:spcPts val="0"/>
              </a:spcBef>
              <a:defRPr sz="900" b="1">
                <a:solidFill>
                  <a:srgbClr val="002060"/>
                </a:solidFill>
              </a:defRPr>
            </a:pPr>
            <a:r>
              <a:t>◇持続的競争力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◆差別化技術(含AI)の最大限活用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◆短期間で多くのSMCを競合に先駆け上市</a:t>
            </a:r>
          </a:p>
          <a:p>
            <a:pPr>
              <a:spcBef>
                <a:spcPts val="0"/>
              </a:spcBef>
              <a:defRPr sz="900" b="1">
                <a:solidFill>
                  <a:srgbClr val="000000"/>
                </a:solidFill>
              </a:defRPr>
            </a:pPr>
            <a:r>
              <a:t>◆ｸﾞﾛｰﾊﾞﾙ規制環境でのﾘｰﾀﾞｰｼｯﾌﾟ</a:t>
            </a:r>
          </a:p>
          <a:p>
            <a:pPr>
              <a:spcBef>
                <a:spcPts val="0"/>
              </a:spcBef>
              <a:defRPr sz="900" b="1">
                <a:solidFill>
                  <a:srgbClr val="002060"/>
                </a:solidFill>
              </a:defRPr>
            </a:pPr>
            <a:r>
              <a:t>→産業ｪｺｼｽﾃﾑの再定義・新ﾋﾞｼﾞﾈｽﾓﾃﾞﾙ</a:t>
            </a:r>
          </a:p>
        </p:txBody>
      </p:sp>
      <p:sp>
        <p:nvSpPr>
          <p:cNvPr id="40" name="Rectangular Callout 39"/>
          <p:cNvSpPr/>
          <p:nvPr/>
        </p:nvSpPr>
        <p:spPr>
          <a:xfrm>
            <a:off x="109728" y="5117592"/>
            <a:ext cx="2688336" cy="841248"/>
          </a:xfrm>
          <a:prstGeom prst="wedgeRectCallout">
            <a:avLst>
              <a:gd name="adj1" fmla="val 60180"/>
              <a:gd name="adj2" fmla="val -95818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" y="5129784"/>
            <a:ext cx="173736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ギャップ要因</a:t>
            </a:r>
          </a:p>
          <a:p>
            <a:pPr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◇法的責任</a:t>
            </a:r>
          </a:p>
          <a:p>
            <a:pPr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◇倫理的判断</a:t>
            </a:r>
          </a:p>
          <a:p>
            <a:pPr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◇情緒的受容</a:t>
            </a:r>
          </a:p>
          <a:p>
            <a:pPr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◇認証・規格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7632" y="5129784"/>
            <a:ext cx="139903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解決の方向性</a:t>
            </a:r>
          </a:p>
          <a:p>
            <a:pPr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◇段階的導入</a:t>
            </a:r>
          </a:p>
          <a:p>
            <a:pPr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◇判断根拠可視化</a:t>
            </a:r>
          </a:p>
          <a:p>
            <a:pPr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t>◇規制形成参画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863072" y="5879592"/>
            <a:ext cx="1298448" cy="320040"/>
          </a:xfrm>
          <a:prstGeom prst="roundRect">
            <a:avLst/>
          </a:prstGeom>
          <a:solidFill>
            <a:srgbClr val="0000FF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ドメイン特化AI (Level 2)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63072" y="6245352"/>
            <a:ext cx="1298448" cy="32004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ﾄﾞﾒｲﾝｽｷﾙによる組織知の形式知化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375</Words>
  <Application>Microsoft Office PowerPoint</Application>
  <PresentationFormat>ワイド画面</PresentationFormat>
  <Paragraphs>93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Takeshi Matsumura</cp:lastModifiedBy>
  <cp:revision>2</cp:revision>
  <dcterms:created xsi:type="dcterms:W3CDTF">2013-01-27T09:14:16Z</dcterms:created>
  <dcterms:modified xsi:type="dcterms:W3CDTF">2026-03-07T12:23:50Z</dcterms:modified>
  <cp:category/>
</cp:coreProperties>
</file>